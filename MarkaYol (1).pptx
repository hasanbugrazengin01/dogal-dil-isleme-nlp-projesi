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Helvetica World" panose="020B0604020202020204" charset="-128"/>
      <p:regular r:id="rId19"/>
    </p:embeddedFont>
    <p:embeddedFont>
      <p:font typeface="Helvetica World Bold" panose="020B0604020202020204" charset="-128"/>
      <p:regular r:id="rId20"/>
    </p:embeddedFont>
    <p:embeddedFont>
      <p:font typeface="Canva Sans" panose="020B0604020202020204" charset="0"/>
      <p:regular r:id="rId21"/>
    </p:embeddedFont>
    <p:embeddedFont>
      <p:font typeface="Montserrat" panose="00000500000000000000" pitchFamily="2" charset="-94"/>
      <p:regular r:id="rId22"/>
    </p:embeddedFont>
    <p:embeddedFont>
      <p:font typeface="Montserrat Bold" panose="020B0604020202020204" charset="-9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98" y="-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6.png"/><Relationship Id="rId7" Type="http://schemas.openxmlformats.org/officeDocument/2006/relationships/image" Target="../media/image17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0.svg"/><Relationship Id="rId7" Type="http://schemas.openxmlformats.org/officeDocument/2006/relationships/image" Target="../media/image37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5079301" y="343914"/>
            <a:ext cx="2281482" cy="1263371"/>
          </a:xfrm>
          <a:custGeom>
            <a:avLst/>
            <a:gdLst/>
            <a:ahLst/>
            <a:cxnLst/>
            <a:rect l="l" t="t" r="r" b="b"/>
            <a:pathLst>
              <a:path w="2281482" h="1263371">
                <a:moveTo>
                  <a:pt x="0" y="0"/>
                </a:moveTo>
                <a:lnTo>
                  <a:pt x="2281482" y="0"/>
                </a:lnTo>
                <a:lnTo>
                  <a:pt x="2281482" y="1263371"/>
                </a:lnTo>
                <a:lnTo>
                  <a:pt x="0" y="1263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flipH="1">
            <a:off x="11588628" y="1619576"/>
            <a:ext cx="8166499" cy="1336336"/>
          </a:xfrm>
          <a:custGeom>
            <a:avLst/>
            <a:gdLst/>
            <a:ahLst/>
            <a:cxnLst/>
            <a:rect l="l" t="t" r="r" b="b"/>
            <a:pathLst>
              <a:path w="8166499" h="1336336">
                <a:moveTo>
                  <a:pt x="8166498" y="0"/>
                </a:moveTo>
                <a:lnTo>
                  <a:pt x="0" y="0"/>
                </a:lnTo>
                <a:lnTo>
                  <a:pt x="0" y="1336336"/>
                </a:lnTo>
                <a:lnTo>
                  <a:pt x="8166498" y="1336336"/>
                </a:lnTo>
                <a:lnTo>
                  <a:pt x="81664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8904842" y="2020722"/>
            <a:ext cx="7905344" cy="4071252"/>
          </a:xfrm>
          <a:custGeom>
            <a:avLst/>
            <a:gdLst/>
            <a:ahLst/>
            <a:cxnLst/>
            <a:rect l="l" t="t" r="r" b="b"/>
            <a:pathLst>
              <a:path w="7905344" h="4071252">
                <a:moveTo>
                  <a:pt x="0" y="0"/>
                </a:moveTo>
                <a:lnTo>
                  <a:pt x="7905343" y="0"/>
                </a:lnTo>
                <a:lnTo>
                  <a:pt x="7905343" y="4071252"/>
                </a:lnTo>
                <a:lnTo>
                  <a:pt x="0" y="40712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1783394" y="2755890"/>
            <a:ext cx="5380317" cy="8121233"/>
          </a:xfrm>
          <a:custGeom>
            <a:avLst/>
            <a:gdLst/>
            <a:ahLst/>
            <a:cxnLst/>
            <a:rect l="l" t="t" r="r" b="b"/>
            <a:pathLst>
              <a:path w="5380317" h="8121233">
                <a:moveTo>
                  <a:pt x="0" y="0"/>
                </a:moveTo>
                <a:lnTo>
                  <a:pt x="5380317" y="0"/>
                </a:lnTo>
                <a:lnTo>
                  <a:pt x="5380317" y="8121233"/>
                </a:lnTo>
                <a:lnTo>
                  <a:pt x="0" y="8121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8664548" y="9515475"/>
            <a:ext cx="7315200" cy="332232"/>
          </a:xfrm>
          <a:custGeom>
            <a:avLst/>
            <a:gdLst/>
            <a:ahLst/>
            <a:cxnLst/>
            <a:rect l="l" t="t" r="r" b="b"/>
            <a:pathLst>
              <a:path w="7315200" h="332232">
                <a:moveTo>
                  <a:pt x="0" y="0"/>
                </a:moveTo>
                <a:lnTo>
                  <a:pt x="7315200" y="0"/>
                </a:lnTo>
                <a:lnTo>
                  <a:pt x="7315200" y="332232"/>
                </a:lnTo>
                <a:lnTo>
                  <a:pt x="0" y="332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9285277" y="3283070"/>
            <a:ext cx="7144473" cy="132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5"/>
              </a:lnSpc>
            </a:pPr>
            <a:r>
              <a:rPr lang="en-US" sz="3095" b="1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MARKA </a:t>
            </a:r>
            <a:r>
              <a:rPr lang="en-US" sz="3095" b="1" spc="-30">
                <a:solidFill>
                  <a:srgbClr val="F8D3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</a:t>
            </a:r>
            <a:r>
              <a:rPr lang="en-US" sz="3095" b="1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OL</a:t>
            </a:r>
          </a:p>
          <a:p>
            <a:pPr marL="0" lvl="0" indent="0" algn="ctr">
              <a:lnSpc>
                <a:spcPts val="3095"/>
              </a:lnSpc>
            </a:pPr>
            <a:r>
              <a:rPr lang="en-US" sz="3095" b="1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NLP-Powered Social Media Brand Analytics &amp; Strategy Platform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40490" y="840105"/>
            <a:ext cx="2559103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spc="6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Discover Now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8671" y="5830044"/>
            <a:ext cx="5350630" cy="356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endParaRPr/>
          </a:p>
          <a:p>
            <a:pPr algn="l">
              <a:lnSpc>
                <a:spcPts val="2798"/>
              </a:lnSpc>
            </a:pPr>
            <a:r>
              <a:rPr lang="en-US" sz="1998" b="1" spc="10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Member</a:t>
            </a:r>
          </a:p>
          <a:p>
            <a:pPr algn="l">
              <a:lnSpc>
                <a:spcPts val="2798"/>
              </a:lnSpc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Elif Necla Bektaş-21030411025</a:t>
            </a:r>
          </a:p>
          <a:p>
            <a:pPr algn="l">
              <a:lnSpc>
                <a:spcPts val="2798"/>
              </a:lnSpc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Buse Nur Yıldırım-21030411012</a:t>
            </a:r>
          </a:p>
          <a:p>
            <a:pPr algn="l">
              <a:lnSpc>
                <a:spcPts val="2798"/>
              </a:lnSpc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Kevser Çalışkan-21030411032</a:t>
            </a:r>
          </a:p>
          <a:p>
            <a:pPr algn="l">
              <a:lnSpc>
                <a:spcPts val="2798"/>
              </a:lnSpc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Fakı Avcu-21030411047</a:t>
            </a:r>
          </a:p>
          <a:p>
            <a:pPr algn="l">
              <a:lnSpc>
                <a:spcPts val="2798"/>
              </a:lnSpc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Hasan Buğra Zengin-21030411049</a:t>
            </a:r>
          </a:p>
          <a:p>
            <a:pPr algn="l">
              <a:lnSpc>
                <a:spcPts val="2798"/>
              </a:lnSpc>
            </a:pPr>
            <a:endParaRPr lang="en-US" sz="1998" spc="101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798"/>
              </a:lnSpc>
            </a:pPr>
            <a:r>
              <a:rPr lang="en-US" sz="1998" b="1" spc="10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Supervisor</a:t>
            </a:r>
          </a:p>
          <a:p>
            <a:pPr algn="l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Dr. Musab Talha Akpınar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41188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4"/>
                </a:lnTo>
                <a:lnTo>
                  <a:pt x="0" y="4091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1129433" y="1935312"/>
            <a:ext cx="7458459" cy="8184866"/>
          </a:xfrm>
          <a:custGeom>
            <a:avLst/>
            <a:gdLst/>
            <a:ahLst/>
            <a:cxnLst/>
            <a:rect l="l" t="t" r="r" b="b"/>
            <a:pathLst>
              <a:path w="7458459" h="8184866">
                <a:moveTo>
                  <a:pt x="0" y="0"/>
                </a:moveTo>
                <a:lnTo>
                  <a:pt x="7458459" y="0"/>
                </a:lnTo>
                <a:lnTo>
                  <a:pt x="7458459" y="8184866"/>
                </a:lnTo>
                <a:lnTo>
                  <a:pt x="0" y="8184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3411" y="1717869"/>
            <a:ext cx="10930255" cy="118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-8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Problem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4742886"/>
            <a:ext cx="6248538" cy="3825285"/>
            <a:chOff x="0" y="0"/>
            <a:chExt cx="1645705" cy="10074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706" cy="1007482"/>
            </a:xfrm>
            <a:custGeom>
              <a:avLst/>
              <a:gdLst/>
              <a:ahLst/>
              <a:cxnLst/>
              <a:rect l="l" t="t" r="r" b="b"/>
              <a:pathLst>
                <a:path w="1645706" h="1007482">
                  <a:moveTo>
                    <a:pt x="0" y="0"/>
                  </a:moveTo>
                  <a:lnTo>
                    <a:pt x="1645706" y="0"/>
                  </a:lnTo>
                  <a:lnTo>
                    <a:pt x="1645706" y="1007482"/>
                  </a:lnTo>
                  <a:lnTo>
                    <a:pt x="0" y="1007482"/>
                  </a:lnTo>
                  <a:close/>
                </a:path>
              </a:pathLst>
            </a:custGeom>
            <a:solidFill>
              <a:srgbClr val="0B4F9D">
                <a:alpha val="50980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45705" cy="104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6018680"/>
            <a:ext cx="4983590" cy="18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Brands receive thousands of social media comments daily. Manual analysis is extremely time-consuming and costly, making it impossible to keep pace with real-time feedback.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386922"/>
            <a:ext cx="4354211" cy="2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8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Overwhelming Data Volume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88314" y="6018680"/>
            <a:ext cx="4880202" cy="18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Valuable insights are buried in massive unstructured data. Difficulty extracting actionable brand intelligence and measuring sentiment impact leads to missed opportunities.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88314" y="5386922"/>
            <a:ext cx="4354211" cy="2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8"/>
              </a:lnSpc>
            </a:pPr>
            <a:r>
              <a:rPr lang="en-US" sz="228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028700" y="1183781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7917378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326071" y="6215380"/>
            <a:ext cx="617811" cy="617811"/>
          </a:xfrm>
          <a:custGeom>
            <a:avLst/>
            <a:gdLst/>
            <a:ahLst/>
            <a:cxnLst/>
            <a:rect l="l" t="t" r="r" b="b"/>
            <a:pathLst>
              <a:path w="617811" h="617811">
                <a:moveTo>
                  <a:pt x="0" y="0"/>
                </a:moveTo>
                <a:lnTo>
                  <a:pt x="617811" y="0"/>
                </a:lnTo>
                <a:lnTo>
                  <a:pt x="617811" y="617811"/>
                </a:lnTo>
                <a:lnTo>
                  <a:pt x="0" y="617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028700" y="1399908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9241" y="3461657"/>
            <a:ext cx="9514073" cy="117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7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MARKA </a:t>
            </a:r>
            <a:r>
              <a:rPr lang="en-US" sz="7994" b="1" spc="-79">
                <a:solidFill>
                  <a:srgbClr val="F8D33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</a:t>
            </a:r>
            <a:r>
              <a:rPr lang="en-US" sz="7994" b="1" spc="-7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OL?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8252" y="6392589"/>
            <a:ext cx="3842650" cy="32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8"/>
              </a:lnSpc>
            </a:pPr>
            <a:r>
              <a:rPr lang="en-US" sz="24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Value Proposition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308" y="7164876"/>
            <a:ext cx="8138794" cy="145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Advanced NLP extracts meaningful insights from vast unstructured social media data. Real-time brand sentiment and trend tracking keeps you ahead. AI-driven strategic recommendations optimize your brand performance.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619687" y="4456143"/>
            <a:ext cx="8277515" cy="4514152"/>
          </a:xfrm>
          <a:custGeom>
            <a:avLst/>
            <a:gdLst/>
            <a:ahLst/>
            <a:cxnLst/>
            <a:rect l="l" t="t" r="r" b="b"/>
            <a:pathLst>
              <a:path w="8277515" h="4514152">
                <a:moveTo>
                  <a:pt x="0" y="0"/>
                </a:moveTo>
                <a:lnTo>
                  <a:pt x="8277514" y="0"/>
                </a:lnTo>
                <a:lnTo>
                  <a:pt x="8277514" y="4514152"/>
                </a:lnTo>
                <a:lnTo>
                  <a:pt x="0" y="4514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67" r="-1799" b="-867"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1173365" y="359678"/>
            <a:ext cx="5711263" cy="10267440"/>
          </a:xfrm>
          <a:custGeom>
            <a:avLst/>
            <a:gdLst/>
            <a:ahLst/>
            <a:cxnLst/>
            <a:rect l="l" t="t" r="r" b="b"/>
            <a:pathLst>
              <a:path w="5711263" h="10267440">
                <a:moveTo>
                  <a:pt x="0" y="0"/>
                </a:moveTo>
                <a:lnTo>
                  <a:pt x="5711264" y="0"/>
                </a:lnTo>
                <a:lnTo>
                  <a:pt x="5711264" y="10267440"/>
                </a:lnTo>
                <a:lnTo>
                  <a:pt x="0" y="10267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6981" y="2195192"/>
            <a:ext cx="9379443" cy="118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-8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Objectives</a:t>
            </a:r>
          </a:p>
        </p:txBody>
      </p:sp>
      <p:sp>
        <p:nvSpPr>
          <p:cNvPr id="9" name="Freeform 9"/>
          <p:cNvSpPr/>
          <p:nvPr/>
        </p:nvSpPr>
        <p:spPr>
          <a:xfrm>
            <a:off x="1346981" y="5143500"/>
            <a:ext cx="426620" cy="393556"/>
          </a:xfrm>
          <a:custGeom>
            <a:avLst/>
            <a:gdLst/>
            <a:ahLst/>
            <a:cxnLst/>
            <a:rect l="l" t="t" r="r" b="b"/>
            <a:pathLst>
              <a:path w="426620" h="393556">
                <a:moveTo>
                  <a:pt x="0" y="0"/>
                </a:moveTo>
                <a:lnTo>
                  <a:pt x="426620" y="0"/>
                </a:lnTo>
                <a:lnTo>
                  <a:pt x="426620" y="393556"/>
                </a:lnTo>
                <a:lnTo>
                  <a:pt x="0" y="393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1346981" y="6792343"/>
            <a:ext cx="426620" cy="393556"/>
          </a:xfrm>
          <a:custGeom>
            <a:avLst/>
            <a:gdLst/>
            <a:ahLst/>
            <a:cxnLst/>
            <a:rect l="l" t="t" r="r" b="b"/>
            <a:pathLst>
              <a:path w="426620" h="393556">
                <a:moveTo>
                  <a:pt x="0" y="0"/>
                </a:moveTo>
                <a:lnTo>
                  <a:pt x="426620" y="0"/>
                </a:lnTo>
                <a:lnTo>
                  <a:pt x="426620" y="393557"/>
                </a:lnTo>
                <a:lnTo>
                  <a:pt x="0" y="393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TextBox 11"/>
          <p:cNvSpPr txBox="1"/>
          <p:nvPr/>
        </p:nvSpPr>
        <p:spPr>
          <a:xfrm>
            <a:off x="2348155" y="5095875"/>
            <a:ext cx="7591914" cy="108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Scalable NLP engine for multi-source social media analysis (Twitter, Instagram, Facebook) with actionable brand analytics dashboards delivering real-time insights.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48155" y="6744718"/>
            <a:ext cx="7591914" cy="108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Data-driven strategic decision-making tools combined with a user-friendly, visually intuitive platform for marketers and brand managers.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56252"/>
          </a:xfrm>
          <a:custGeom>
            <a:avLst/>
            <a:gdLst/>
            <a:ahLst/>
            <a:cxnLst/>
            <a:rect l="l" t="t" r="r" b="b"/>
            <a:pathLst>
              <a:path w="18288000" h="10356252">
                <a:moveTo>
                  <a:pt x="0" y="0"/>
                </a:moveTo>
                <a:lnTo>
                  <a:pt x="18288000" y="0"/>
                </a:lnTo>
                <a:lnTo>
                  <a:pt x="18288000" y="10356252"/>
                </a:lnTo>
                <a:lnTo>
                  <a:pt x="0" y="10356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817069" y="1384212"/>
            <a:ext cx="6941854" cy="7474405"/>
          </a:xfrm>
          <a:custGeom>
            <a:avLst/>
            <a:gdLst/>
            <a:ahLst/>
            <a:cxnLst/>
            <a:rect l="l" t="t" r="r" b="b"/>
            <a:pathLst>
              <a:path w="6941854" h="7474405">
                <a:moveTo>
                  <a:pt x="0" y="0"/>
                </a:moveTo>
                <a:lnTo>
                  <a:pt x="6941853" y="0"/>
                </a:lnTo>
                <a:lnTo>
                  <a:pt x="6941853" y="7474404"/>
                </a:lnTo>
                <a:lnTo>
                  <a:pt x="0" y="7474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28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9"/>
              </a:lnSpc>
              <a:spcBef>
                <a:spcPct val="0"/>
              </a:spcBef>
            </a:pPr>
            <a:r>
              <a:rPr lang="en-US" sz="1663" spc="8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7397" y="2295181"/>
            <a:ext cx="8138794" cy="229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7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Benefits for Businesses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037397" y="4921005"/>
            <a:ext cx="4069397" cy="2004566"/>
            <a:chOff x="0" y="0"/>
            <a:chExt cx="1071775" cy="5279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1775" cy="527952"/>
            </a:xfrm>
            <a:custGeom>
              <a:avLst/>
              <a:gdLst/>
              <a:ahLst/>
              <a:cxnLst/>
              <a:rect l="l" t="t" r="r" b="b"/>
              <a:pathLst>
                <a:path w="1071775" h="527952">
                  <a:moveTo>
                    <a:pt x="97026" y="0"/>
                  </a:moveTo>
                  <a:lnTo>
                    <a:pt x="974749" y="0"/>
                  </a:lnTo>
                  <a:cubicBezTo>
                    <a:pt x="1028335" y="0"/>
                    <a:pt x="1071775" y="43440"/>
                    <a:pt x="1071775" y="97026"/>
                  </a:cubicBezTo>
                  <a:lnTo>
                    <a:pt x="1071775" y="430925"/>
                  </a:lnTo>
                  <a:cubicBezTo>
                    <a:pt x="1071775" y="456658"/>
                    <a:pt x="1061553" y="481337"/>
                    <a:pt x="1043357" y="499533"/>
                  </a:cubicBezTo>
                  <a:cubicBezTo>
                    <a:pt x="1025161" y="517729"/>
                    <a:pt x="1000482" y="527952"/>
                    <a:pt x="974749" y="527952"/>
                  </a:cubicBezTo>
                  <a:lnTo>
                    <a:pt x="97026" y="527952"/>
                  </a:lnTo>
                  <a:cubicBezTo>
                    <a:pt x="43440" y="527952"/>
                    <a:pt x="0" y="484512"/>
                    <a:pt x="0" y="430925"/>
                  </a:cubicBezTo>
                  <a:lnTo>
                    <a:pt x="0" y="97026"/>
                  </a:lnTo>
                  <a:cubicBezTo>
                    <a:pt x="0" y="43440"/>
                    <a:pt x="43440" y="0"/>
                    <a:pt x="97026" y="0"/>
                  </a:cubicBezTo>
                  <a:close/>
                </a:path>
              </a:pathLst>
            </a:custGeom>
            <a:ln w="57150" cap="rnd">
              <a:solidFill>
                <a:srgbClr val="1EA3D4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71775" cy="56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405979" y="5847088"/>
            <a:ext cx="3332233" cy="60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95"/>
              </a:lnSpc>
            </a:pPr>
            <a:r>
              <a:rPr lang="en-US" sz="16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Enhanced reputation tracking across all platforms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5433" y="5293432"/>
            <a:ext cx="2513325" cy="300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6"/>
              </a:lnSpc>
            </a:pPr>
            <a:r>
              <a:rPr lang="en-US" sz="21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 Monitoring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9864" y="7563746"/>
            <a:ext cx="8729176" cy="917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5"/>
              </a:lnSpc>
            </a:pPr>
            <a:r>
              <a:rPr lang="en-US" sz="16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Faster response to social trends and crises. Increased ROI through data-driven decisions. Real-time analytics enable proactive brand management and strategic optimization.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25294" y="4921769"/>
            <a:ext cx="4069397" cy="2004566"/>
            <a:chOff x="0" y="0"/>
            <a:chExt cx="1071775" cy="5279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1775" cy="527952"/>
            </a:xfrm>
            <a:custGeom>
              <a:avLst/>
              <a:gdLst/>
              <a:ahLst/>
              <a:cxnLst/>
              <a:rect l="l" t="t" r="r" b="b"/>
              <a:pathLst>
                <a:path w="1071775" h="527952">
                  <a:moveTo>
                    <a:pt x="97026" y="0"/>
                  </a:moveTo>
                  <a:lnTo>
                    <a:pt x="974749" y="0"/>
                  </a:lnTo>
                  <a:cubicBezTo>
                    <a:pt x="1028335" y="0"/>
                    <a:pt x="1071775" y="43440"/>
                    <a:pt x="1071775" y="97026"/>
                  </a:cubicBezTo>
                  <a:lnTo>
                    <a:pt x="1071775" y="430925"/>
                  </a:lnTo>
                  <a:cubicBezTo>
                    <a:pt x="1071775" y="456658"/>
                    <a:pt x="1061553" y="481337"/>
                    <a:pt x="1043357" y="499533"/>
                  </a:cubicBezTo>
                  <a:cubicBezTo>
                    <a:pt x="1025161" y="517729"/>
                    <a:pt x="1000482" y="527952"/>
                    <a:pt x="974749" y="527952"/>
                  </a:cubicBezTo>
                  <a:lnTo>
                    <a:pt x="97026" y="527952"/>
                  </a:lnTo>
                  <a:cubicBezTo>
                    <a:pt x="43440" y="527952"/>
                    <a:pt x="0" y="484512"/>
                    <a:pt x="0" y="430925"/>
                  </a:cubicBezTo>
                  <a:lnTo>
                    <a:pt x="0" y="97026"/>
                  </a:lnTo>
                  <a:cubicBezTo>
                    <a:pt x="0" y="43440"/>
                    <a:pt x="43440" y="0"/>
                    <a:pt x="97026" y="0"/>
                  </a:cubicBezTo>
                  <a:close/>
                </a:path>
              </a:pathLst>
            </a:custGeom>
            <a:ln w="57150" cap="rnd">
              <a:solidFill>
                <a:srgbClr val="F8D33E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71775" cy="56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693876" y="5847852"/>
            <a:ext cx="3332233" cy="60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95"/>
              </a:lnSpc>
            </a:pPr>
            <a:r>
              <a:rPr lang="en-US" sz="16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Improved marketing effectiveness with data insights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03330" y="5294196"/>
            <a:ext cx="2513325" cy="300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6"/>
              </a:lnSpc>
            </a:pPr>
            <a:r>
              <a:rPr lang="en-US" sz="21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Strategy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221870" y="1425802"/>
            <a:ext cx="11016508" cy="117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7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55495" y="2491994"/>
            <a:ext cx="1101650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"From Data Collection to AI-Powered Business Intelligence"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04862" y="2958084"/>
            <a:ext cx="4524375" cy="1381125"/>
            <a:chOff x="0" y="0"/>
            <a:chExt cx="6032500" cy="1841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32500" cy="1841500"/>
            </a:xfrm>
            <a:custGeom>
              <a:avLst/>
              <a:gdLst/>
              <a:ahLst/>
              <a:cxnLst/>
              <a:rect l="l" t="t" r="r" b="b"/>
              <a:pathLst>
                <a:path w="6032500" h="1841500">
                  <a:moveTo>
                    <a:pt x="184150" y="0"/>
                  </a:moveTo>
                  <a:lnTo>
                    <a:pt x="5848350" y="0"/>
                  </a:lnTo>
                  <a:cubicBezTo>
                    <a:pt x="5950053" y="0"/>
                    <a:pt x="6032500" y="82447"/>
                    <a:pt x="6032500" y="184150"/>
                  </a:cubicBezTo>
                  <a:lnTo>
                    <a:pt x="6032500" y="1657350"/>
                  </a:lnTo>
                  <a:cubicBezTo>
                    <a:pt x="6032500" y="1759053"/>
                    <a:pt x="5950053" y="1841500"/>
                    <a:pt x="5848350" y="1841500"/>
                  </a:cubicBezTo>
                  <a:lnTo>
                    <a:pt x="184150" y="1841500"/>
                  </a:lnTo>
                  <a:cubicBezTo>
                    <a:pt x="82447" y="1841500"/>
                    <a:pt x="0" y="1759053"/>
                    <a:pt x="0" y="1657350"/>
                  </a:cubicBezTo>
                  <a:lnTo>
                    <a:pt x="0" y="184150"/>
                  </a:lnTo>
                  <a:cubicBezTo>
                    <a:pt x="0" y="82447"/>
                    <a:pt x="82447" y="0"/>
                    <a:pt x="184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sq">
              <a:solidFill>
                <a:srgbClr val="1A9FC4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33475" y="3456813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lose/>
                </a:path>
              </a:pathLst>
            </a:custGeom>
            <a:solidFill>
              <a:srgbClr val="00CBFF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95388" y="3667696"/>
            <a:ext cx="561975" cy="28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203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09775" y="3224806"/>
            <a:ext cx="2857500" cy="102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0"/>
              </a:lnSpc>
              <a:spcBef>
                <a:spcPct val="0"/>
              </a:spcBef>
            </a:pPr>
            <a:r>
              <a:rPr lang="en-US" sz="278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Media APIs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009775" y="4329134"/>
            <a:ext cx="4524375" cy="1381125"/>
            <a:chOff x="0" y="0"/>
            <a:chExt cx="6032500" cy="184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32500" cy="1841500"/>
            </a:xfrm>
            <a:custGeom>
              <a:avLst/>
              <a:gdLst/>
              <a:ahLst/>
              <a:cxnLst/>
              <a:rect l="l" t="t" r="r" b="b"/>
              <a:pathLst>
                <a:path w="6032500" h="1841500">
                  <a:moveTo>
                    <a:pt x="184150" y="0"/>
                  </a:moveTo>
                  <a:lnTo>
                    <a:pt x="5848350" y="0"/>
                  </a:lnTo>
                  <a:cubicBezTo>
                    <a:pt x="5950053" y="0"/>
                    <a:pt x="6032500" y="82447"/>
                    <a:pt x="6032500" y="184150"/>
                  </a:cubicBezTo>
                  <a:lnTo>
                    <a:pt x="6032500" y="1657350"/>
                  </a:lnTo>
                  <a:cubicBezTo>
                    <a:pt x="6032500" y="1759053"/>
                    <a:pt x="5950053" y="1841500"/>
                    <a:pt x="5848350" y="1841500"/>
                  </a:cubicBezTo>
                  <a:lnTo>
                    <a:pt x="184150" y="1841500"/>
                  </a:lnTo>
                  <a:cubicBezTo>
                    <a:pt x="82447" y="1841500"/>
                    <a:pt x="0" y="1759053"/>
                    <a:pt x="0" y="1657350"/>
                  </a:cubicBezTo>
                  <a:lnTo>
                    <a:pt x="0" y="184150"/>
                  </a:lnTo>
                  <a:cubicBezTo>
                    <a:pt x="0" y="82447"/>
                    <a:pt x="82447" y="0"/>
                    <a:pt x="184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sq">
              <a:solidFill>
                <a:srgbClr val="D4B03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12595" y="4634484"/>
            <a:ext cx="685800" cy="685800"/>
            <a:chOff x="0" y="0"/>
            <a:chExt cx="9144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lose/>
                </a:path>
              </a:pathLst>
            </a:custGeom>
            <a:solidFill>
              <a:srgbClr val="F8D33E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74507" y="4860417"/>
            <a:ext cx="561975" cy="28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203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67050" y="4548759"/>
            <a:ext cx="2857500" cy="102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0"/>
              </a:lnSpc>
              <a:spcBef>
                <a:spcPct val="0"/>
              </a:spcBef>
            </a:pPr>
            <a:r>
              <a:rPr lang="en-US" sz="278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 Layer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067050" y="5715000"/>
            <a:ext cx="4524375" cy="1381125"/>
            <a:chOff x="0" y="0"/>
            <a:chExt cx="6032500" cy="1841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32500" cy="1841500"/>
            </a:xfrm>
            <a:custGeom>
              <a:avLst/>
              <a:gdLst/>
              <a:ahLst/>
              <a:cxnLst/>
              <a:rect l="l" t="t" r="r" b="b"/>
              <a:pathLst>
                <a:path w="6032500" h="1841500">
                  <a:moveTo>
                    <a:pt x="184150" y="0"/>
                  </a:moveTo>
                  <a:lnTo>
                    <a:pt x="5848350" y="0"/>
                  </a:lnTo>
                  <a:cubicBezTo>
                    <a:pt x="5950053" y="0"/>
                    <a:pt x="6032500" y="82447"/>
                    <a:pt x="6032500" y="184150"/>
                  </a:cubicBezTo>
                  <a:lnTo>
                    <a:pt x="6032500" y="1657350"/>
                  </a:lnTo>
                  <a:cubicBezTo>
                    <a:pt x="6032500" y="1759053"/>
                    <a:pt x="5950053" y="1841500"/>
                    <a:pt x="5848350" y="1841500"/>
                  </a:cubicBezTo>
                  <a:lnTo>
                    <a:pt x="184150" y="1841500"/>
                  </a:lnTo>
                  <a:cubicBezTo>
                    <a:pt x="82447" y="1841500"/>
                    <a:pt x="0" y="1759053"/>
                    <a:pt x="0" y="1657350"/>
                  </a:cubicBezTo>
                  <a:lnTo>
                    <a:pt x="0" y="184150"/>
                  </a:lnTo>
                  <a:cubicBezTo>
                    <a:pt x="0" y="82447"/>
                    <a:pt x="82447" y="0"/>
                    <a:pt x="184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sq">
              <a:solidFill>
                <a:srgbClr val="5AAA3A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48025" y="6067425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305175" y="6276997"/>
            <a:ext cx="561975" cy="28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203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24325" y="5981700"/>
            <a:ext cx="2857500" cy="102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0"/>
              </a:lnSpc>
              <a:spcBef>
                <a:spcPct val="0"/>
              </a:spcBef>
            </a:pPr>
            <a:r>
              <a:rPr lang="en-US" sz="278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&amp; NLP Engine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124325" y="7047357"/>
            <a:ext cx="4524375" cy="1381125"/>
            <a:chOff x="0" y="0"/>
            <a:chExt cx="6032500" cy="1841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032500" cy="1841500"/>
            </a:xfrm>
            <a:custGeom>
              <a:avLst/>
              <a:gdLst/>
              <a:ahLst/>
              <a:cxnLst/>
              <a:rect l="l" t="t" r="r" b="b"/>
              <a:pathLst>
                <a:path w="6032500" h="1841500">
                  <a:moveTo>
                    <a:pt x="184150" y="0"/>
                  </a:moveTo>
                  <a:lnTo>
                    <a:pt x="5848350" y="0"/>
                  </a:lnTo>
                  <a:cubicBezTo>
                    <a:pt x="5950053" y="0"/>
                    <a:pt x="6032500" y="82447"/>
                    <a:pt x="6032500" y="184150"/>
                  </a:cubicBezTo>
                  <a:lnTo>
                    <a:pt x="6032500" y="1657350"/>
                  </a:lnTo>
                  <a:cubicBezTo>
                    <a:pt x="6032500" y="1759053"/>
                    <a:pt x="5950053" y="1841500"/>
                    <a:pt x="5848350" y="1841500"/>
                  </a:cubicBezTo>
                  <a:lnTo>
                    <a:pt x="184150" y="1841500"/>
                  </a:lnTo>
                  <a:cubicBezTo>
                    <a:pt x="82447" y="1841500"/>
                    <a:pt x="0" y="1759053"/>
                    <a:pt x="0" y="1657350"/>
                  </a:cubicBezTo>
                  <a:lnTo>
                    <a:pt x="0" y="184150"/>
                  </a:lnTo>
                  <a:cubicBezTo>
                    <a:pt x="0" y="82447"/>
                    <a:pt x="82447" y="0"/>
                    <a:pt x="184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sq">
              <a:solidFill>
                <a:srgbClr val="A070B8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00538" y="7391400"/>
            <a:ext cx="685800" cy="685800"/>
            <a:chOff x="0" y="0"/>
            <a:chExt cx="9144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lose/>
                </a:path>
              </a:pathLst>
            </a:custGeom>
            <a:solidFill>
              <a:srgbClr val="E2A9F1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362450" y="7605903"/>
            <a:ext cx="561975" cy="28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203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06249" y="7153275"/>
            <a:ext cx="2857500" cy="102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0"/>
              </a:lnSpc>
              <a:spcBef>
                <a:spcPct val="0"/>
              </a:spcBef>
            </a:pPr>
            <a:r>
              <a:rPr lang="en-US" sz="278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&amp; Processing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206249" y="8409432"/>
            <a:ext cx="4524375" cy="1381125"/>
            <a:chOff x="0" y="0"/>
            <a:chExt cx="6032500" cy="18415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032500" cy="1841500"/>
            </a:xfrm>
            <a:custGeom>
              <a:avLst/>
              <a:gdLst/>
              <a:ahLst/>
              <a:cxnLst/>
              <a:rect l="l" t="t" r="r" b="b"/>
              <a:pathLst>
                <a:path w="6032500" h="1841500">
                  <a:moveTo>
                    <a:pt x="184150" y="0"/>
                  </a:moveTo>
                  <a:lnTo>
                    <a:pt x="5848350" y="0"/>
                  </a:lnTo>
                  <a:cubicBezTo>
                    <a:pt x="5950053" y="0"/>
                    <a:pt x="6032500" y="82447"/>
                    <a:pt x="6032500" y="184150"/>
                  </a:cubicBezTo>
                  <a:lnTo>
                    <a:pt x="6032500" y="1657350"/>
                  </a:lnTo>
                  <a:cubicBezTo>
                    <a:pt x="6032500" y="1759053"/>
                    <a:pt x="5950053" y="1841500"/>
                    <a:pt x="5848350" y="1841500"/>
                  </a:cubicBezTo>
                  <a:lnTo>
                    <a:pt x="184150" y="1841500"/>
                  </a:lnTo>
                  <a:cubicBezTo>
                    <a:pt x="82447" y="1841500"/>
                    <a:pt x="0" y="1759053"/>
                    <a:pt x="0" y="1657350"/>
                  </a:cubicBezTo>
                  <a:lnTo>
                    <a:pt x="0" y="184150"/>
                  </a:lnTo>
                  <a:cubicBezTo>
                    <a:pt x="0" y="82447"/>
                    <a:pt x="82447" y="0"/>
                    <a:pt x="184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sq">
              <a:solidFill>
                <a:srgbClr val="E0602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62575" y="8780907"/>
            <a:ext cx="685800" cy="685800"/>
            <a:chOff x="0" y="0"/>
            <a:chExt cx="9144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lose/>
                </a:path>
              </a:pathLst>
            </a:custGeom>
            <a:solidFill>
              <a:srgbClr val="FF751F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424488" y="8942832"/>
            <a:ext cx="561975" cy="28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203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86500" y="8567166"/>
            <a:ext cx="2857500" cy="102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0"/>
              </a:lnSpc>
              <a:spcBef>
                <a:spcPct val="0"/>
              </a:spcBef>
            </a:pPr>
            <a:r>
              <a:rPr lang="en-US" sz="278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8635502" y="2363015"/>
            <a:ext cx="10207261" cy="5945729"/>
          </a:xfrm>
          <a:custGeom>
            <a:avLst/>
            <a:gdLst/>
            <a:ahLst/>
            <a:cxnLst/>
            <a:rect l="l" t="t" r="r" b="b"/>
            <a:pathLst>
              <a:path w="10207261" h="5945729">
                <a:moveTo>
                  <a:pt x="0" y="0"/>
                </a:moveTo>
                <a:lnTo>
                  <a:pt x="10207261" y="0"/>
                </a:lnTo>
                <a:lnTo>
                  <a:pt x="10207261" y="5945729"/>
                </a:lnTo>
                <a:lnTo>
                  <a:pt x="0" y="5945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32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6"/>
              </a:lnSpc>
              <a:spcBef>
                <a:spcPct val="0"/>
              </a:spcBef>
            </a:pPr>
            <a:r>
              <a:rPr lang="en-US" sz="1976" spc="1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3303" y="1190892"/>
            <a:ext cx="9586218" cy="117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-8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NLP Process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63303" y="2689495"/>
            <a:ext cx="4522835" cy="1378443"/>
            <a:chOff x="0" y="0"/>
            <a:chExt cx="1191199" cy="3630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1199" cy="363047"/>
            </a:xfrm>
            <a:custGeom>
              <a:avLst/>
              <a:gdLst/>
              <a:ahLst/>
              <a:cxnLst/>
              <a:rect l="l" t="t" r="r" b="b"/>
              <a:pathLst>
                <a:path w="1191199" h="363047">
                  <a:moveTo>
                    <a:pt x="87299" y="0"/>
                  </a:moveTo>
                  <a:lnTo>
                    <a:pt x="1103901" y="0"/>
                  </a:lnTo>
                  <a:cubicBezTo>
                    <a:pt x="1152114" y="0"/>
                    <a:pt x="1191199" y="39085"/>
                    <a:pt x="1191199" y="87299"/>
                  </a:cubicBezTo>
                  <a:lnTo>
                    <a:pt x="1191199" y="275748"/>
                  </a:lnTo>
                  <a:cubicBezTo>
                    <a:pt x="1191199" y="298901"/>
                    <a:pt x="1182002" y="321106"/>
                    <a:pt x="1165630" y="337478"/>
                  </a:cubicBezTo>
                  <a:cubicBezTo>
                    <a:pt x="1149259" y="353849"/>
                    <a:pt x="1127054" y="363047"/>
                    <a:pt x="1103901" y="363047"/>
                  </a:cubicBezTo>
                  <a:lnTo>
                    <a:pt x="87299" y="363047"/>
                  </a:lnTo>
                  <a:cubicBezTo>
                    <a:pt x="39085" y="363047"/>
                    <a:pt x="0" y="323962"/>
                    <a:pt x="0" y="275748"/>
                  </a:cubicBezTo>
                  <a:lnTo>
                    <a:pt x="0" y="87299"/>
                  </a:lnTo>
                  <a:cubicBezTo>
                    <a:pt x="0" y="39085"/>
                    <a:pt x="39085" y="0"/>
                    <a:pt x="87299" y="0"/>
                  </a:cubicBezTo>
                  <a:close/>
                </a:path>
              </a:pathLst>
            </a:custGeom>
            <a:solidFill>
              <a:srgbClr val="0A1A3A">
                <a:alpha val="80000"/>
              </a:srgbClr>
            </a:solidFill>
            <a:ln w="28575" cap="rnd">
              <a:solidFill>
                <a:srgbClr val="00CB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91199" cy="401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0608" y="3039006"/>
            <a:ext cx="679421" cy="67942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F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04825" y="3248025"/>
            <a:ext cx="5619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4060" y="2841506"/>
            <a:ext cx="28575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24060" y="4162078"/>
            <a:ext cx="4522835" cy="1378443"/>
            <a:chOff x="0" y="0"/>
            <a:chExt cx="1191199" cy="3630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1199" cy="363047"/>
            </a:xfrm>
            <a:custGeom>
              <a:avLst/>
              <a:gdLst/>
              <a:ahLst/>
              <a:cxnLst/>
              <a:rect l="l" t="t" r="r" b="b"/>
              <a:pathLst>
                <a:path w="1191199" h="363047">
                  <a:moveTo>
                    <a:pt x="87299" y="0"/>
                  </a:moveTo>
                  <a:lnTo>
                    <a:pt x="1103901" y="0"/>
                  </a:lnTo>
                  <a:cubicBezTo>
                    <a:pt x="1152114" y="0"/>
                    <a:pt x="1191199" y="39085"/>
                    <a:pt x="1191199" y="87299"/>
                  </a:cubicBezTo>
                  <a:lnTo>
                    <a:pt x="1191199" y="275748"/>
                  </a:lnTo>
                  <a:cubicBezTo>
                    <a:pt x="1191199" y="298901"/>
                    <a:pt x="1182002" y="321106"/>
                    <a:pt x="1165630" y="337478"/>
                  </a:cubicBezTo>
                  <a:cubicBezTo>
                    <a:pt x="1149259" y="353849"/>
                    <a:pt x="1127054" y="363047"/>
                    <a:pt x="1103901" y="363047"/>
                  </a:cubicBezTo>
                  <a:lnTo>
                    <a:pt x="87299" y="363047"/>
                  </a:lnTo>
                  <a:cubicBezTo>
                    <a:pt x="39085" y="363047"/>
                    <a:pt x="0" y="323962"/>
                    <a:pt x="0" y="275748"/>
                  </a:cubicBezTo>
                  <a:lnTo>
                    <a:pt x="0" y="87299"/>
                  </a:lnTo>
                  <a:cubicBezTo>
                    <a:pt x="0" y="39085"/>
                    <a:pt x="39085" y="0"/>
                    <a:pt x="87299" y="0"/>
                  </a:cubicBezTo>
                  <a:close/>
                </a:path>
              </a:pathLst>
            </a:custGeom>
            <a:solidFill>
              <a:srgbClr val="0A1A3A">
                <a:alpha val="80000"/>
              </a:srgbClr>
            </a:solidFill>
            <a:ln w="28575" cap="rnd">
              <a:solidFill>
                <a:srgbClr val="F8D33E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91199" cy="401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70455" y="4572763"/>
            <a:ext cx="679421" cy="67942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D33E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62100" y="4724400"/>
            <a:ext cx="5619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384816" y="5635771"/>
            <a:ext cx="4522835" cy="1378443"/>
            <a:chOff x="0" y="0"/>
            <a:chExt cx="1191199" cy="3630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91199" cy="363047"/>
            </a:xfrm>
            <a:custGeom>
              <a:avLst/>
              <a:gdLst/>
              <a:ahLst/>
              <a:cxnLst/>
              <a:rect l="l" t="t" r="r" b="b"/>
              <a:pathLst>
                <a:path w="1191199" h="363047">
                  <a:moveTo>
                    <a:pt x="87299" y="0"/>
                  </a:moveTo>
                  <a:lnTo>
                    <a:pt x="1103901" y="0"/>
                  </a:lnTo>
                  <a:cubicBezTo>
                    <a:pt x="1152114" y="0"/>
                    <a:pt x="1191199" y="39085"/>
                    <a:pt x="1191199" y="87299"/>
                  </a:cubicBezTo>
                  <a:lnTo>
                    <a:pt x="1191199" y="275748"/>
                  </a:lnTo>
                  <a:cubicBezTo>
                    <a:pt x="1191199" y="298901"/>
                    <a:pt x="1182002" y="321106"/>
                    <a:pt x="1165630" y="337478"/>
                  </a:cubicBezTo>
                  <a:cubicBezTo>
                    <a:pt x="1149259" y="353849"/>
                    <a:pt x="1127054" y="363047"/>
                    <a:pt x="1103901" y="363047"/>
                  </a:cubicBezTo>
                  <a:lnTo>
                    <a:pt x="87299" y="363047"/>
                  </a:lnTo>
                  <a:cubicBezTo>
                    <a:pt x="39085" y="363047"/>
                    <a:pt x="0" y="323962"/>
                    <a:pt x="0" y="275748"/>
                  </a:cubicBezTo>
                  <a:lnTo>
                    <a:pt x="0" y="87299"/>
                  </a:lnTo>
                  <a:cubicBezTo>
                    <a:pt x="0" y="39085"/>
                    <a:pt x="39085" y="0"/>
                    <a:pt x="87299" y="0"/>
                  </a:cubicBezTo>
                  <a:close/>
                </a:path>
              </a:pathLst>
            </a:custGeom>
            <a:solidFill>
              <a:srgbClr val="0A1A3A">
                <a:alpha val="80000"/>
              </a:srgbClr>
            </a:solidFill>
            <a:ln w="28575" cap="rnd">
              <a:solidFill>
                <a:srgbClr val="7ED95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191199" cy="401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445573" y="7108909"/>
            <a:ext cx="4974527" cy="1378443"/>
            <a:chOff x="0" y="0"/>
            <a:chExt cx="1310163" cy="3630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10163" cy="363047"/>
            </a:xfrm>
            <a:custGeom>
              <a:avLst/>
              <a:gdLst/>
              <a:ahLst/>
              <a:cxnLst/>
              <a:rect l="l" t="t" r="r" b="b"/>
              <a:pathLst>
                <a:path w="1310163" h="363047">
                  <a:moveTo>
                    <a:pt x="79372" y="0"/>
                  </a:moveTo>
                  <a:lnTo>
                    <a:pt x="1230791" y="0"/>
                  </a:lnTo>
                  <a:cubicBezTo>
                    <a:pt x="1274627" y="0"/>
                    <a:pt x="1310163" y="35536"/>
                    <a:pt x="1310163" y="79372"/>
                  </a:cubicBezTo>
                  <a:lnTo>
                    <a:pt x="1310163" y="283675"/>
                  </a:lnTo>
                  <a:cubicBezTo>
                    <a:pt x="1310163" y="327511"/>
                    <a:pt x="1274627" y="363047"/>
                    <a:pt x="1230791" y="363047"/>
                  </a:cubicBezTo>
                  <a:lnTo>
                    <a:pt x="79372" y="363047"/>
                  </a:lnTo>
                  <a:cubicBezTo>
                    <a:pt x="35536" y="363047"/>
                    <a:pt x="0" y="327511"/>
                    <a:pt x="0" y="283675"/>
                  </a:cubicBezTo>
                  <a:lnTo>
                    <a:pt x="0" y="79372"/>
                  </a:lnTo>
                  <a:cubicBezTo>
                    <a:pt x="0" y="35536"/>
                    <a:pt x="35536" y="0"/>
                    <a:pt x="79372" y="0"/>
                  </a:cubicBezTo>
                  <a:close/>
                </a:path>
              </a:pathLst>
            </a:custGeom>
            <a:solidFill>
              <a:srgbClr val="0A1A3A">
                <a:alpha val="80000"/>
              </a:srgbClr>
            </a:solidFill>
            <a:ln w="28575" cap="rnd">
              <a:solidFill>
                <a:srgbClr val="E2A9F1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10163" cy="401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06330" y="8582048"/>
            <a:ext cx="4522835" cy="1378443"/>
            <a:chOff x="0" y="0"/>
            <a:chExt cx="1191199" cy="36304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91199" cy="363047"/>
            </a:xfrm>
            <a:custGeom>
              <a:avLst/>
              <a:gdLst/>
              <a:ahLst/>
              <a:cxnLst/>
              <a:rect l="l" t="t" r="r" b="b"/>
              <a:pathLst>
                <a:path w="1191199" h="363047">
                  <a:moveTo>
                    <a:pt x="87299" y="0"/>
                  </a:moveTo>
                  <a:lnTo>
                    <a:pt x="1103901" y="0"/>
                  </a:lnTo>
                  <a:cubicBezTo>
                    <a:pt x="1152114" y="0"/>
                    <a:pt x="1191199" y="39085"/>
                    <a:pt x="1191199" y="87299"/>
                  </a:cubicBezTo>
                  <a:lnTo>
                    <a:pt x="1191199" y="275748"/>
                  </a:lnTo>
                  <a:cubicBezTo>
                    <a:pt x="1191199" y="298901"/>
                    <a:pt x="1182002" y="321106"/>
                    <a:pt x="1165630" y="337478"/>
                  </a:cubicBezTo>
                  <a:cubicBezTo>
                    <a:pt x="1149259" y="353849"/>
                    <a:pt x="1127054" y="363047"/>
                    <a:pt x="1103901" y="363047"/>
                  </a:cubicBezTo>
                  <a:lnTo>
                    <a:pt x="87299" y="363047"/>
                  </a:lnTo>
                  <a:cubicBezTo>
                    <a:pt x="39085" y="363047"/>
                    <a:pt x="0" y="323962"/>
                    <a:pt x="0" y="275748"/>
                  </a:cubicBezTo>
                  <a:lnTo>
                    <a:pt x="0" y="87299"/>
                  </a:lnTo>
                  <a:cubicBezTo>
                    <a:pt x="0" y="39085"/>
                    <a:pt x="39085" y="0"/>
                    <a:pt x="87299" y="0"/>
                  </a:cubicBezTo>
                  <a:close/>
                </a:path>
              </a:pathLst>
            </a:custGeom>
            <a:solidFill>
              <a:srgbClr val="0A1A3A">
                <a:alpha val="80000"/>
              </a:srgbClr>
            </a:solidFill>
            <a:ln w="28575" cap="rnd">
              <a:solidFill>
                <a:srgbClr val="FF751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191199" cy="401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580671" y="6045346"/>
            <a:ext cx="679421" cy="679421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690888" y="7517929"/>
            <a:ext cx="679421" cy="67942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A9F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801104" y="8990512"/>
            <a:ext cx="679421" cy="67942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2619375" y="6200775"/>
            <a:ext cx="5619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86175" y="7667625"/>
            <a:ext cx="5619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43450" y="9144000"/>
            <a:ext cx="5619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381250" y="4676689"/>
            <a:ext cx="2857500" cy="542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302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38525" y="5924592"/>
            <a:ext cx="28575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Sentiment Classification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06330" y="7507120"/>
            <a:ext cx="326091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25"/>
              </a:lnSpc>
              <a:spcBef>
                <a:spcPct val="0"/>
              </a:spcBef>
            </a:pPr>
            <a:r>
              <a:rPr lang="en-US" sz="335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62600" y="8721090"/>
            <a:ext cx="28575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Strategy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41188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4"/>
                </a:lnTo>
                <a:lnTo>
                  <a:pt x="0" y="4091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2665520" y="2297798"/>
            <a:ext cx="4493279" cy="8379076"/>
          </a:xfrm>
          <a:custGeom>
            <a:avLst/>
            <a:gdLst/>
            <a:ahLst/>
            <a:cxnLst/>
            <a:rect l="l" t="t" r="r" b="b"/>
            <a:pathLst>
              <a:path w="4493279" h="8379076">
                <a:moveTo>
                  <a:pt x="0" y="0"/>
                </a:moveTo>
                <a:lnTo>
                  <a:pt x="4493280" y="0"/>
                </a:lnTo>
                <a:lnTo>
                  <a:pt x="4493280" y="8379075"/>
                </a:lnTo>
                <a:lnTo>
                  <a:pt x="0" y="837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3411" y="1717869"/>
            <a:ext cx="10930255" cy="118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-8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Sources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4742886"/>
            <a:ext cx="6248538" cy="3825285"/>
            <a:chOff x="0" y="0"/>
            <a:chExt cx="1645705" cy="10074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706" cy="1007482"/>
            </a:xfrm>
            <a:custGeom>
              <a:avLst/>
              <a:gdLst/>
              <a:ahLst/>
              <a:cxnLst/>
              <a:rect l="l" t="t" r="r" b="b"/>
              <a:pathLst>
                <a:path w="1645706" h="1007482">
                  <a:moveTo>
                    <a:pt x="0" y="0"/>
                  </a:moveTo>
                  <a:lnTo>
                    <a:pt x="1645706" y="0"/>
                  </a:lnTo>
                  <a:lnTo>
                    <a:pt x="1645706" y="1007482"/>
                  </a:lnTo>
                  <a:lnTo>
                    <a:pt x="0" y="1007482"/>
                  </a:lnTo>
                  <a:close/>
                </a:path>
              </a:pathLst>
            </a:custGeom>
            <a:solidFill>
              <a:srgbClr val="0B4F9D">
                <a:alpha val="50980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45705" cy="104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6018680"/>
            <a:ext cx="4983590" cy="150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Twitter, Instagram, Facebook</a:t>
            </a:r>
            <a:r>
              <a:rPr lang="tr-TR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</a:t>
            </a:r>
            <a:r>
              <a:rPr lang="en-US" sz="199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comprehensive coverage across all major social channels where brand conversations happen.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396447"/>
            <a:ext cx="4354211" cy="32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8"/>
              </a:lnSpc>
            </a:pPr>
            <a:r>
              <a:rPr lang="en-US" sz="24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Platforms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88314" y="6018680"/>
            <a:ext cx="4880202" cy="145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Multi-source data ingestion enables comprehensive brand monitoring, capturing diverse audience voices and sentiment across platforms.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88314" y="5396447"/>
            <a:ext cx="4354211" cy="32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8"/>
              </a:lnSpc>
            </a:pPr>
            <a:r>
              <a:rPr lang="en-US" sz="24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Diversity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264512" y="2222067"/>
            <a:ext cx="7943355" cy="7476683"/>
          </a:xfrm>
          <a:custGeom>
            <a:avLst/>
            <a:gdLst/>
            <a:ahLst/>
            <a:cxnLst/>
            <a:rect l="l" t="t" r="r" b="b"/>
            <a:pathLst>
              <a:path w="7943355" h="7476683">
                <a:moveTo>
                  <a:pt x="0" y="0"/>
                </a:moveTo>
                <a:lnTo>
                  <a:pt x="7943354" y="0"/>
                </a:lnTo>
                <a:lnTo>
                  <a:pt x="7943354" y="7476683"/>
                </a:lnTo>
                <a:lnTo>
                  <a:pt x="0" y="7476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7397" y="2285656"/>
            <a:ext cx="8138794" cy="118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-8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Analyzed Brands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037397" y="4921005"/>
            <a:ext cx="4069397" cy="2004566"/>
            <a:chOff x="0" y="0"/>
            <a:chExt cx="1071775" cy="5279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1775" cy="527952"/>
            </a:xfrm>
            <a:custGeom>
              <a:avLst/>
              <a:gdLst/>
              <a:ahLst/>
              <a:cxnLst/>
              <a:rect l="l" t="t" r="r" b="b"/>
              <a:pathLst>
                <a:path w="1071775" h="527952">
                  <a:moveTo>
                    <a:pt x="97026" y="0"/>
                  </a:moveTo>
                  <a:lnTo>
                    <a:pt x="974749" y="0"/>
                  </a:lnTo>
                  <a:cubicBezTo>
                    <a:pt x="1028335" y="0"/>
                    <a:pt x="1071775" y="43440"/>
                    <a:pt x="1071775" y="97026"/>
                  </a:cubicBezTo>
                  <a:lnTo>
                    <a:pt x="1071775" y="430925"/>
                  </a:lnTo>
                  <a:cubicBezTo>
                    <a:pt x="1071775" y="456658"/>
                    <a:pt x="1061553" y="481337"/>
                    <a:pt x="1043357" y="499533"/>
                  </a:cubicBezTo>
                  <a:cubicBezTo>
                    <a:pt x="1025161" y="517729"/>
                    <a:pt x="1000482" y="527952"/>
                    <a:pt x="974749" y="527952"/>
                  </a:cubicBezTo>
                  <a:lnTo>
                    <a:pt x="97026" y="527952"/>
                  </a:lnTo>
                  <a:cubicBezTo>
                    <a:pt x="43440" y="527952"/>
                    <a:pt x="0" y="484512"/>
                    <a:pt x="0" y="430925"/>
                  </a:cubicBezTo>
                  <a:lnTo>
                    <a:pt x="0" y="97026"/>
                  </a:lnTo>
                  <a:cubicBezTo>
                    <a:pt x="0" y="43440"/>
                    <a:pt x="43440" y="0"/>
                    <a:pt x="97026" y="0"/>
                  </a:cubicBezTo>
                  <a:close/>
                </a:path>
              </a:pathLst>
            </a:custGeom>
            <a:ln w="57150" cap="rnd">
              <a:solidFill>
                <a:srgbClr val="1EA3D4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71775" cy="56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405979" y="5837563"/>
            <a:ext cx="3332233" cy="714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Trendyol, Turkcell, Hepsiburada, Garanti, THY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5433" y="5302957"/>
            <a:ext cx="2513325" cy="34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3"/>
              </a:lnSpc>
            </a:pPr>
            <a:r>
              <a:rPr lang="en-US" sz="24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Major Brands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9864" y="7554221"/>
            <a:ext cx="8729176" cy="108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MARKA YOL adapts to diverse sectors and brand sizes. Our platform analyzes leading Turkish brands across e-commerce, telecommunications, banking, and aviation industries.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25294" y="4921769"/>
            <a:ext cx="4069397" cy="2004566"/>
            <a:chOff x="0" y="0"/>
            <a:chExt cx="1071775" cy="5279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1775" cy="527952"/>
            </a:xfrm>
            <a:custGeom>
              <a:avLst/>
              <a:gdLst/>
              <a:ahLst/>
              <a:cxnLst/>
              <a:rect l="l" t="t" r="r" b="b"/>
              <a:pathLst>
                <a:path w="1071775" h="527952">
                  <a:moveTo>
                    <a:pt x="97026" y="0"/>
                  </a:moveTo>
                  <a:lnTo>
                    <a:pt x="974749" y="0"/>
                  </a:lnTo>
                  <a:cubicBezTo>
                    <a:pt x="1028335" y="0"/>
                    <a:pt x="1071775" y="43440"/>
                    <a:pt x="1071775" y="97026"/>
                  </a:cubicBezTo>
                  <a:lnTo>
                    <a:pt x="1071775" y="430925"/>
                  </a:lnTo>
                  <a:cubicBezTo>
                    <a:pt x="1071775" y="456658"/>
                    <a:pt x="1061553" y="481337"/>
                    <a:pt x="1043357" y="499533"/>
                  </a:cubicBezTo>
                  <a:cubicBezTo>
                    <a:pt x="1025161" y="517729"/>
                    <a:pt x="1000482" y="527952"/>
                    <a:pt x="974749" y="527952"/>
                  </a:cubicBezTo>
                  <a:lnTo>
                    <a:pt x="97026" y="527952"/>
                  </a:lnTo>
                  <a:cubicBezTo>
                    <a:pt x="43440" y="527952"/>
                    <a:pt x="0" y="484512"/>
                    <a:pt x="0" y="430925"/>
                  </a:cubicBezTo>
                  <a:lnTo>
                    <a:pt x="0" y="97026"/>
                  </a:lnTo>
                  <a:cubicBezTo>
                    <a:pt x="0" y="43440"/>
                    <a:pt x="43440" y="0"/>
                    <a:pt x="97026" y="0"/>
                  </a:cubicBezTo>
                  <a:close/>
                </a:path>
              </a:pathLst>
            </a:custGeom>
            <a:ln w="57150" cap="rnd">
              <a:solidFill>
                <a:srgbClr val="F8D33E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71775" cy="56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693876" y="5838327"/>
            <a:ext cx="3332233" cy="714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7"/>
              </a:lnSpc>
            </a:pPr>
            <a:r>
              <a:rPr lang="en-US" sz="1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E-commerce, Telecom, Banking, Aviation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03330" y="5303721"/>
            <a:ext cx="2513325" cy="34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3"/>
              </a:lnSpc>
            </a:pPr>
            <a:r>
              <a:rPr lang="en-US" sz="24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Cross-Sector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3663" y="2290078"/>
            <a:ext cx="4762500" cy="7143750"/>
            <a:chOff x="0" y="0"/>
            <a:chExt cx="6350000" cy="952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635000" y="0"/>
                  </a:moveTo>
                  <a:lnTo>
                    <a:pt x="5715000" y="0"/>
                  </a:lnTo>
                  <a:cubicBezTo>
                    <a:pt x="6065701" y="0"/>
                    <a:pt x="6350000" y="284299"/>
                    <a:pt x="6350000" y="635000"/>
                  </a:cubicBezTo>
                  <a:lnTo>
                    <a:pt x="6350000" y="8890000"/>
                  </a:lnTo>
                  <a:cubicBezTo>
                    <a:pt x="6350000" y="9240701"/>
                    <a:pt x="6065701" y="9525000"/>
                    <a:pt x="5715000" y="9525000"/>
                  </a:cubicBezTo>
                  <a:lnTo>
                    <a:pt x="635000" y="9525000"/>
                  </a:lnTo>
                  <a:cubicBezTo>
                    <a:pt x="284299" y="9525000"/>
                    <a:pt x="0" y="9240701"/>
                    <a:pt x="0" y="8890000"/>
                  </a:cubicBezTo>
                  <a:lnTo>
                    <a:pt x="0" y="635000"/>
                  </a:ln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0A1535">
                <a:alpha val="84706"/>
              </a:srgbClr>
            </a:solidFill>
            <a:ln w="19050" cap="sq">
              <a:solidFill>
                <a:srgbClr val="00CBFF">
                  <a:alpha val="8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7163" y="2290078"/>
            <a:ext cx="4762500" cy="7143750"/>
            <a:chOff x="0" y="0"/>
            <a:chExt cx="6350000" cy="952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635000" y="0"/>
                  </a:moveTo>
                  <a:lnTo>
                    <a:pt x="5715000" y="0"/>
                  </a:lnTo>
                  <a:cubicBezTo>
                    <a:pt x="6065701" y="0"/>
                    <a:pt x="6350000" y="284299"/>
                    <a:pt x="6350000" y="635000"/>
                  </a:cubicBezTo>
                  <a:lnTo>
                    <a:pt x="6350000" y="8890000"/>
                  </a:lnTo>
                  <a:cubicBezTo>
                    <a:pt x="6350000" y="9240701"/>
                    <a:pt x="6065701" y="9525000"/>
                    <a:pt x="5715000" y="9525000"/>
                  </a:cubicBezTo>
                  <a:lnTo>
                    <a:pt x="635000" y="9525000"/>
                  </a:lnTo>
                  <a:cubicBezTo>
                    <a:pt x="284299" y="9525000"/>
                    <a:pt x="0" y="9240701"/>
                    <a:pt x="0" y="8890000"/>
                  </a:cubicBezTo>
                  <a:lnTo>
                    <a:pt x="0" y="635000"/>
                  </a:ln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0A1535">
                <a:alpha val="84706"/>
              </a:srgbClr>
            </a:solidFill>
            <a:ln w="19050" cap="sq">
              <a:solidFill>
                <a:srgbClr val="F8D33E">
                  <a:alpha val="8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30663" y="2290078"/>
            <a:ext cx="4762500" cy="7143750"/>
            <a:chOff x="0" y="0"/>
            <a:chExt cx="6350000" cy="952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635000" y="0"/>
                  </a:moveTo>
                  <a:lnTo>
                    <a:pt x="5715000" y="0"/>
                  </a:lnTo>
                  <a:cubicBezTo>
                    <a:pt x="6065701" y="0"/>
                    <a:pt x="6350000" y="284299"/>
                    <a:pt x="6350000" y="635000"/>
                  </a:cubicBezTo>
                  <a:lnTo>
                    <a:pt x="6350000" y="8890000"/>
                  </a:lnTo>
                  <a:cubicBezTo>
                    <a:pt x="6350000" y="9240701"/>
                    <a:pt x="6065701" y="9525000"/>
                    <a:pt x="5715000" y="9525000"/>
                  </a:cubicBezTo>
                  <a:lnTo>
                    <a:pt x="635000" y="9525000"/>
                  </a:lnTo>
                  <a:cubicBezTo>
                    <a:pt x="284299" y="9525000"/>
                    <a:pt x="0" y="9240701"/>
                    <a:pt x="0" y="8890000"/>
                  </a:cubicBezTo>
                  <a:lnTo>
                    <a:pt x="0" y="635000"/>
                  </a:ln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0A1535">
                <a:alpha val="84706"/>
              </a:srgbClr>
            </a:solidFill>
            <a:ln w="19050" cap="sq">
              <a:solidFill>
                <a:srgbClr val="7ED957">
                  <a:alpha val="8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34163" y="857571"/>
            <a:ext cx="5715000" cy="73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22"/>
              </a:lnSpc>
              <a:spcBef>
                <a:spcPct val="0"/>
              </a:spcBef>
            </a:pPr>
            <a:r>
              <a:rPr lang="en-US" sz="5022" b="1" u="none" strike="noStrike" spc="-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Analysis Results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913" y="2585353"/>
            <a:ext cx="3810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Sentiment Analysis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8038" y="3052078"/>
            <a:ext cx="3333750" cy="3333750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0" y="0"/>
                </a:moveTo>
                <a:lnTo>
                  <a:pt x="3333750" y="0"/>
                </a:lnTo>
                <a:lnTo>
                  <a:pt x="33337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39" t="-3239" r="-3239" b="-3239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6" name="Group 16"/>
          <p:cNvGrpSpPr/>
          <p:nvPr/>
        </p:nvGrpSpPr>
        <p:grpSpPr>
          <a:xfrm>
            <a:off x="1505663" y="6671578"/>
            <a:ext cx="152400" cy="152400"/>
            <a:chOff x="0" y="0"/>
            <a:chExt cx="203200" cy="203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FF4757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3788" y="6671578"/>
            <a:ext cx="2857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Negative: 2,364 (68.9%)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05663" y="7052578"/>
            <a:ext cx="152400" cy="152400"/>
            <a:chOff x="0" y="0"/>
            <a:chExt cx="203200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00CBFF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43788" y="7052578"/>
            <a:ext cx="2857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Positive: 721 (21%)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05663" y="7433578"/>
            <a:ext cx="152400" cy="152400"/>
            <a:chOff x="0" y="0"/>
            <a:chExt cx="203200" cy="203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747D8C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43788" y="7433578"/>
            <a:ext cx="2857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Neutral: 347 (10.1%)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95450" y="7905750"/>
            <a:ext cx="28575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A0B8D0"/>
                </a:solidFill>
                <a:latin typeface="Montserrat"/>
                <a:ea typeface="Montserrat"/>
                <a:cs typeface="Montserrat"/>
                <a:sym typeface="Montserrat"/>
              </a:rPr>
              <a:t>Total: 3,432 comments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25288" y="2575828"/>
            <a:ext cx="42862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Comments by Brand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67450" y="3228975"/>
            <a:ext cx="190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267450" y="3505200"/>
            <a:ext cx="3619500" cy="381000"/>
            <a:chOff x="0" y="0"/>
            <a:chExt cx="4826000" cy="50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26000" cy="508000"/>
            </a:xfrm>
            <a:custGeom>
              <a:avLst/>
              <a:gdLst/>
              <a:ahLst/>
              <a:cxnLst/>
              <a:rect l="l" t="t" r="r" b="b"/>
              <a:pathLst>
                <a:path w="4826000" h="508000">
                  <a:moveTo>
                    <a:pt x="4572000" y="0"/>
                  </a:moveTo>
                  <a:cubicBezTo>
                    <a:pt x="4712280" y="0"/>
                    <a:pt x="4826000" y="113720"/>
                    <a:pt x="4826000" y="254000"/>
                  </a:cubicBezTo>
                  <a:cubicBezTo>
                    <a:pt x="4826000" y="394280"/>
                    <a:pt x="4712280" y="508000"/>
                    <a:pt x="4572000" y="508000"/>
                  </a:cubicBezTo>
                  <a:lnTo>
                    <a:pt x="254000" y="508000"/>
                  </a:ln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8D33E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982200" y="3524250"/>
            <a:ext cx="7620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8D33E"/>
                </a:solidFill>
                <a:latin typeface="Montserrat"/>
                <a:ea typeface="Montserrat"/>
                <a:cs typeface="Montserrat"/>
                <a:sym typeface="Montserrat"/>
              </a:rPr>
              <a:t>798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67450" y="3990975"/>
            <a:ext cx="190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Garanti BBVA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67450" y="4267200"/>
            <a:ext cx="3362325" cy="381000"/>
            <a:chOff x="0" y="0"/>
            <a:chExt cx="4483100" cy="508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83100" cy="508000"/>
            </a:xfrm>
            <a:custGeom>
              <a:avLst/>
              <a:gdLst/>
              <a:ahLst/>
              <a:cxnLst/>
              <a:rect l="l" t="t" r="r" b="b"/>
              <a:pathLst>
                <a:path w="4483100" h="508000">
                  <a:moveTo>
                    <a:pt x="4149784" y="0"/>
                  </a:moveTo>
                  <a:cubicBezTo>
                    <a:pt x="4333869" y="0"/>
                    <a:pt x="4483100" y="113720"/>
                    <a:pt x="4483100" y="254000"/>
                  </a:cubicBezTo>
                  <a:cubicBezTo>
                    <a:pt x="4483100" y="394280"/>
                    <a:pt x="4333869" y="508000"/>
                    <a:pt x="4149784" y="508000"/>
                  </a:cubicBezTo>
                  <a:lnTo>
                    <a:pt x="333316" y="508000"/>
                  </a:lnTo>
                  <a:cubicBezTo>
                    <a:pt x="149231" y="508000"/>
                    <a:pt x="0" y="394280"/>
                    <a:pt x="0" y="254000"/>
                  </a:cubicBezTo>
                  <a:cubicBezTo>
                    <a:pt x="0" y="113720"/>
                    <a:pt x="149231" y="0"/>
                    <a:pt x="333316" y="0"/>
                  </a:cubicBezTo>
                  <a:close/>
                </a:path>
              </a:pathLst>
            </a:custGeom>
            <a:solidFill>
              <a:srgbClr val="7ED95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725025" y="4286250"/>
            <a:ext cx="7620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7ED957"/>
                </a:solidFill>
                <a:latin typeface="Montserrat"/>
                <a:ea typeface="Montserrat"/>
                <a:cs typeface="Montserrat"/>
                <a:sym typeface="Montserrat"/>
              </a:rPr>
              <a:t>742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67450" y="4752975"/>
            <a:ext cx="190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Trendyol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67450" y="5029200"/>
            <a:ext cx="3009900" cy="381000"/>
            <a:chOff x="0" y="0"/>
            <a:chExt cx="4013200" cy="508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013200" cy="508000"/>
            </a:xfrm>
            <a:custGeom>
              <a:avLst/>
              <a:gdLst/>
              <a:ahLst/>
              <a:cxnLst/>
              <a:rect l="l" t="t" r="r" b="b"/>
              <a:pathLst>
                <a:path w="4013200" h="508000">
                  <a:moveTo>
                    <a:pt x="3603690" y="0"/>
                  </a:moveTo>
                  <a:cubicBezTo>
                    <a:pt x="3829856" y="0"/>
                    <a:pt x="4013200" y="113720"/>
                    <a:pt x="4013200" y="254000"/>
                  </a:cubicBezTo>
                  <a:cubicBezTo>
                    <a:pt x="4013200" y="394280"/>
                    <a:pt x="3829856" y="508000"/>
                    <a:pt x="3603690" y="508000"/>
                  </a:cubicBezTo>
                  <a:lnTo>
                    <a:pt x="409510" y="508000"/>
                  </a:lnTo>
                  <a:cubicBezTo>
                    <a:pt x="183344" y="508000"/>
                    <a:pt x="0" y="394280"/>
                    <a:pt x="0" y="254000"/>
                  </a:cubicBezTo>
                  <a:cubicBezTo>
                    <a:pt x="0" y="113720"/>
                    <a:pt x="183344" y="0"/>
                    <a:pt x="409510" y="0"/>
                  </a:cubicBezTo>
                  <a:close/>
                </a:path>
              </a:pathLst>
            </a:custGeom>
            <a:solidFill>
              <a:srgbClr val="FF475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372600" y="5048250"/>
            <a:ext cx="7620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4757"/>
                </a:solidFill>
                <a:latin typeface="Montserrat"/>
                <a:ea typeface="Montserrat"/>
                <a:cs typeface="Montserrat"/>
                <a:sym typeface="Montserrat"/>
              </a:rPr>
              <a:t>665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67450" y="5514975"/>
            <a:ext cx="190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Hepsiburada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267450" y="5791200"/>
            <a:ext cx="2962275" cy="381000"/>
            <a:chOff x="0" y="0"/>
            <a:chExt cx="3949700" cy="508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949700" cy="508000"/>
            </a:xfrm>
            <a:custGeom>
              <a:avLst/>
              <a:gdLst/>
              <a:ahLst/>
              <a:cxnLst/>
              <a:rect l="l" t="t" r="r" b="b"/>
              <a:pathLst>
                <a:path w="3949700" h="508000">
                  <a:moveTo>
                    <a:pt x="3393404" y="0"/>
                  </a:moveTo>
                  <a:cubicBezTo>
                    <a:pt x="3700638" y="0"/>
                    <a:pt x="3949700" y="113720"/>
                    <a:pt x="3949700" y="254000"/>
                  </a:cubicBezTo>
                  <a:cubicBezTo>
                    <a:pt x="3949700" y="394280"/>
                    <a:pt x="3700638" y="508000"/>
                    <a:pt x="3393404" y="508000"/>
                  </a:cubicBezTo>
                  <a:lnTo>
                    <a:pt x="556296" y="508000"/>
                  </a:lnTo>
                  <a:cubicBezTo>
                    <a:pt x="249062" y="508000"/>
                    <a:pt x="0" y="394280"/>
                    <a:pt x="0" y="254000"/>
                  </a:cubicBezTo>
                  <a:cubicBezTo>
                    <a:pt x="0" y="113720"/>
                    <a:pt x="249062" y="0"/>
                    <a:pt x="556296" y="0"/>
                  </a:cubicBezTo>
                  <a:close/>
                </a:path>
              </a:pathLst>
            </a:custGeom>
            <a:solidFill>
              <a:srgbClr val="FF6B81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324975" y="5810250"/>
            <a:ext cx="7620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6B81"/>
                </a:solidFill>
                <a:latin typeface="Montserrat"/>
                <a:ea typeface="Montserrat"/>
                <a:cs typeface="Montserrat"/>
                <a:sym typeface="Montserrat"/>
              </a:rPr>
              <a:t>655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67450" y="6276975"/>
            <a:ext cx="190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Turkcell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267450" y="6553200"/>
            <a:ext cx="2781300" cy="381000"/>
            <a:chOff x="0" y="0"/>
            <a:chExt cx="3708400" cy="508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08400" cy="508000"/>
            </a:xfrm>
            <a:custGeom>
              <a:avLst/>
              <a:gdLst/>
              <a:ahLst/>
              <a:cxnLst/>
              <a:rect l="l" t="t" r="r" b="b"/>
              <a:pathLst>
                <a:path w="3708400" h="508000">
                  <a:moveTo>
                    <a:pt x="2951584" y="0"/>
                  </a:moveTo>
                  <a:cubicBezTo>
                    <a:pt x="3369562" y="0"/>
                    <a:pt x="3708400" y="113720"/>
                    <a:pt x="3708400" y="254000"/>
                  </a:cubicBezTo>
                  <a:cubicBezTo>
                    <a:pt x="3708400" y="394280"/>
                    <a:pt x="3369562" y="508000"/>
                    <a:pt x="2951584" y="508000"/>
                  </a:cubicBezTo>
                  <a:lnTo>
                    <a:pt x="756816" y="508000"/>
                  </a:lnTo>
                  <a:cubicBezTo>
                    <a:pt x="338838" y="508000"/>
                    <a:pt x="0" y="394280"/>
                    <a:pt x="0" y="254000"/>
                  </a:cubicBezTo>
                  <a:cubicBezTo>
                    <a:pt x="0" y="113720"/>
                    <a:pt x="338838" y="0"/>
                    <a:pt x="756816" y="0"/>
                  </a:cubicBezTo>
                  <a:close/>
                </a:path>
              </a:pathLst>
            </a:custGeom>
            <a:solidFill>
              <a:srgbClr val="00CBFF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144000" y="6572250"/>
            <a:ext cx="7620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00CBFF"/>
                </a:solidFill>
                <a:latin typeface="Montserrat"/>
                <a:ea typeface="Montserrat"/>
                <a:cs typeface="Montserrat"/>
                <a:sym typeface="Montserrat"/>
              </a:rPr>
              <a:t>614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67450" y="7296150"/>
            <a:ext cx="4000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u="none" strike="noStrike">
                <a:solidFill>
                  <a:srgbClr val="FF4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Highest comments:</a:t>
            </a:r>
            <a:r>
              <a:rPr lang="en-US" sz="1500" u="none" strike="noStrike">
                <a:solidFill>
                  <a:srgbClr val="FF4757"/>
                </a:solidFill>
                <a:latin typeface="Montserrat"/>
                <a:ea typeface="Montserrat"/>
                <a:cs typeface="Montserrat"/>
                <a:sym typeface="Montserrat"/>
              </a:rPr>
              <a:t> THY (798)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67450" y="7677150"/>
            <a:ext cx="4000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 u="none" strike="noStrike">
                <a:solidFill>
                  <a:srgbClr val="7ED9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Lowest comments:</a:t>
            </a:r>
            <a:r>
              <a:rPr lang="en-US" sz="1500" u="none" strike="noStrike">
                <a:solidFill>
                  <a:srgbClr val="7ED957"/>
                </a:solidFill>
                <a:latin typeface="Montserrat"/>
                <a:ea typeface="Montserrat"/>
                <a:cs typeface="Montserrat"/>
                <a:sym typeface="Montserrat"/>
              </a:rPr>
              <a:t> Turkcell (614)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506913" y="2566303"/>
            <a:ext cx="3810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Category Distribution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10950" y="3238500"/>
            <a:ext cx="23812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Comment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1410950" y="3467100"/>
            <a:ext cx="3333750" cy="285750"/>
            <a:chOff x="0" y="0"/>
            <a:chExt cx="4445000" cy="381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445000" cy="381000"/>
            </a:xfrm>
            <a:custGeom>
              <a:avLst/>
              <a:gdLst/>
              <a:ahLst/>
              <a:cxnLst/>
              <a:rect l="l" t="t" r="r" b="b"/>
              <a:pathLst>
                <a:path w="4445000" h="381000">
                  <a:moveTo>
                    <a:pt x="3849688" y="0"/>
                  </a:moveTo>
                  <a:cubicBezTo>
                    <a:pt x="4178469" y="0"/>
                    <a:pt x="4445000" y="85290"/>
                    <a:pt x="4445000" y="190500"/>
                  </a:cubicBezTo>
                  <a:cubicBezTo>
                    <a:pt x="4445000" y="295710"/>
                    <a:pt x="4178469" y="381000"/>
                    <a:pt x="3849688" y="381000"/>
                  </a:cubicBezTo>
                  <a:lnTo>
                    <a:pt x="595312" y="381000"/>
                  </a:lnTo>
                  <a:cubicBezTo>
                    <a:pt x="266530" y="381000"/>
                    <a:pt x="0" y="295710"/>
                    <a:pt x="0" y="190500"/>
                  </a:cubicBezTo>
                  <a:cubicBezTo>
                    <a:pt x="0" y="85290"/>
                    <a:pt x="266530" y="0"/>
                    <a:pt x="595312" y="0"/>
                  </a:cubicBezTo>
                  <a:close/>
                </a:path>
              </a:pathLst>
            </a:custGeom>
            <a:solidFill>
              <a:srgbClr val="FF475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839950" y="3486150"/>
            <a:ext cx="57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4757"/>
                </a:solidFill>
                <a:latin typeface="Montserrat"/>
                <a:ea typeface="Montserrat"/>
                <a:cs typeface="Montserrat"/>
                <a:sym typeface="Montserrat"/>
              </a:rPr>
              <a:t>1303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10950" y="3952875"/>
            <a:ext cx="23812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Price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1410950" y="4181475"/>
            <a:ext cx="2590800" cy="285750"/>
            <a:chOff x="0" y="0"/>
            <a:chExt cx="3454400" cy="381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454400" cy="381000"/>
            </a:xfrm>
            <a:custGeom>
              <a:avLst/>
              <a:gdLst/>
              <a:ahLst/>
              <a:cxnLst/>
              <a:rect l="l" t="t" r="r" b="b"/>
              <a:pathLst>
                <a:path w="3454400" h="381000">
                  <a:moveTo>
                    <a:pt x="2858814" y="0"/>
                  </a:moveTo>
                  <a:cubicBezTo>
                    <a:pt x="3187747" y="0"/>
                    <a:pt x="3454400" y="85290"/>
                    <a:pt x="3454400" y="190500"/>
                  </a:cubicBezTo>
                  <a:cubicBezTo>
                    <a:pt x="3454400" y="295710"/>
                    <a:pt x="3187747" y="381000"/>
                    <a:pt x="2858814" y="381000"/>
                  </a:cubicBezTo>
                  <a:lnTo>
                    <a:pt x="595586" y="381000"/>
                  </a:lnTo>
                  <a:cubicBezTo>
                    <a:pt x="266653" y="381000"/>
                    <a:pt x="0" y="295710"/>
                    <a:pt x="0" y="190500"/>
                  </a:cubicBezTo>
                  <a:cubicBezTo>
                    <a:pt x="0" y="85290"/>
                    <a:pt x="266653" y="0"/>
                    <a:pt x="595586" y="0"/>
                  </a:cubicBezTo>
                  <a:close/>
                </a:path>
              </a:pathLst>
            </a:custGeom>
            <a:solidFill>
              <a:srgbClr val="FF6B81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4097000" y="4200525"/>
            <a:ext cx="57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6B81"/>
                </a:solidFill>
                <a:latin typeface="Montserrat"/>
                <a:ea typeface="Montserrat"/>
                <a:cs typeface="Montserrat"/>
                <a:sym typeface="Montserrat"/>
              </a:rPr>
              <a:t>1015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10950" y="4667250"/>
            <a:ext cx="23812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Service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1410950" y="4895850"/>
            <a:ext cx="904875" cy="285750"/>
            <a:chOff x="0" y="0"/>
            <a:chExt cx="1206500" cy="3810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06500" cy="381000"/>
            </a:xfrm>
            <a:custGeom>
              <a:avLst/>
              <a:gdLst/>
              <a:ahLst/>
              <a:cxnLst/>
              <a:rect l="l" t="t" r="r" b="b"/>
              <a:pathLst>
                <a:path w="1206500" h="381000">
                  <a:moveTo>
                    <a:pt x="947964" y="0"/>
                  </a:moveTo>
                  <a:cubicBezTo>
                    <a:pt x="1090750" y="0"/>
                    <a:pt x="1206500" y="85290"/>
                    <a:pt x="1206500" y="190500"/>
                  </a:cubicBezTo>
                  <a:cubicBezTo>
                    <a:pt x="1206500" y="295710"/>
                    <a:pt x="1090750" y="381000"/>
                    <a:pt x="947964" y="381000"/>
                  </a:cubicBezTo>
                  <a:lnTo>
                    <a:pt x="258536" y="381000"/>
                  </a:lnTo>
                  <a:cubicBezTo>
                    <a:pt x="115750" y="381000"/>
                    <a:pt x="0" y="295710"/>
                    <a:pt x="0" y="190500"/>
                  </a:cubicBezTo>
                  <a:cubicBezTo>
                    <a:pt x="0" y="85290"/>
                    <a:pt x="115750" y="0"/>
                    <a:pt x="258536" y="0"/>
                  </a:cubicBezTo>
                  <a:close/>
                </a:path>
              </a:pathLst>
            </a:custGeom>
            <a:solidFill>
              <a:srgbClr val="00CBFF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2411075" y="4914900"/>
            <a:ext cx="57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00CBFF"/>
                </a:solidFill>
                <a:latin typeface="Montserrat"/>
                <a:ea typeface="Montserrat"/>
                <a:cs typeface="Montserrat"/>
                <a:sym typeface="Montserrat"/>
              </a:rPr>
              <a:t>357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10950" y="5381625"/>
            <a:ext cx="23812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Product Quality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1410950" y="5610225"/>
            <a:ext cx="695325" cy="285750"/>
            <a:chOff x="0" y="0"/>
            <a:chExt cx="927100" cy="3810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27100" cy="381000"/>
            </a:xfrm>
            <a:custGeom>
              <a:avLst/>
              <a:gdLst/>
              <a:ahLst/>
              <a:cxnLst/>
              <a:rect l="l" t="t" r="r" b="b"/>
              <a:pathLst>
                <a:path w="927100" h="381000">
                  <a:moveTo>
                    <a:pt x="618067" y="0"/>
                  </a:moveTo>
                  <a:cubicBezTo>
                    <a:pt x="788741" y="0"/>
                    <a:pt x="927100" y="85290"/>
                    <a:pt x="927100" y="190500"/>
                  </a:cubicBezTo>
                  <a:cubicBezTo>
                    <a:pt x="927100" y="295710"/>
                    <a:pt x="788741" y="381000"/>
                    <a:pt x="618067" y="381000"/>
                  </a:cubicBezTo>
                  <a:lnTo>
                    <a:pt x="309033" y="381000"/>
                  </a:lnTo>
                  <a:cubicBezTo>
                    <a:pt x="138359" y="381000"/>
                    <a:pt x="0" y="295710"/>
                    <a:pt x="0" y="190500"/>
                  </a:cubicBezTo>
                  <a:cubicBezTo>
                    <a:pt x="0" y="85290"/>
                    <a:pt x="138359" y="0"/>
                    <a:pt x="309033" y="0"/>
                  </a:cubicBezTo>
                  <a:close/>
                </a:path>
              </a:pathLst>
            </a:custGeom>
            <a:solidFill>
              <a:srgbClr val="F8D33E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2201525" y="5629275"/>
            <a:ext cx="57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8D33E"/>
                </a:solidFill>
                <a:latin typeface="Montserrat"/>
                <a:ea typeface="Montserrat"/>
                <a:cs typeface="Montserrat"/>
                <a:sym typeface="Montserrat"/>
              </a:rPr>
              <a:t>275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10950" y="6810375"/>
            <a:ext cx="23812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10950" y="6096000"/>
            <a:ext cx="23812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Delivery/Product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1410950" y="6324600"/>
            <a:ext cx="752475" cy="285750"/>
            <a:chOff x="0" y="0"/>
            <a:chExt cx="1003300" cy="3810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03300" cy="381000"/>
            </a:xfrm>
            <a:custGeom>
              <a:avLst/>
              <a:gdLst/>
              <a:ahLst/>
              <a:cxnLst/>
              <a:rect l="l" t="t" r="r" b="b"/>
              <a:pathLst>
                <a:path w="1003300" h="381000">
                  <a:moveTo>
                    <a:pt x="812800" y="0"/>
                  </a:moveTo>
                  <a:cubicBezTo>
                    <a:pt x="918010" y="0"/>
                    <a:pt x="1003300" y="85290"/>
                    <a:pt x="1003300" y="190500"/>
                  </a:cubicBezTo>
                  <a:cubicBezTo>
                    <a:pt x="1003300" y="295710"/>
                    <a:pt x="918010" y="381000"/>
                    <a:pt x="8128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A855F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258675" y="6343650"/>
            <a:ext cx="57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A855F7"/>
                </a:solidFill>
                <a:latin typeface="Montserrat"/>
                <a:ea typeface="Montserrat"/>
                <a:cs typeface="Montserrat"/>
                <a:sym typeface="Montserrat"/>
              </a:rPr>
              <a:t>295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1410950" y="7038975"/>
            <a:ext cx="476250" cy="285750"/>
            <a:chOff x="0" y="0"/>
            <a:chExt cx="635000" cy="3810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5000" cy="381000"/>
            </a:xfrm>
            <a:custGeom>
              <a:avLst/>
              <a:gdLst/>
              <a:ahLst/>
              <a:cxnLst/>
              <a:rect l="l" t="t" r="r" b="b"/>
              <a:pathLst>
                <a:path w="635000" h="381000">
                  <a:moveTo>
                    <a:pt x="362857" y="0"/>
                  </a:moveTo>
                  <a:cubicBezTo>
                    <a:pt x="513157" y="0"/>
                    <a:pt x="635000" y="85290"/>
                    <a:pt x="635000" y="190500"/>
                  </a:cubicBezTo>
                  <a:cubicBezTo>
                    <a:pt x="635000" y="295710"/>
                    <a:pt x="513157" y="381000"/>
                    <a:pt x="362857" y="381000"/>
                  </a:cubicBezTo>
                  <a:lnTo>
                    <a:pt x="272143" y="381000"/>
                  </a:lnTo>
                  <a:cubicBezTo>
                    <a:pt x="121843" y="381000"/>
                    <a:pt x="0" y="295710"/>
                    <a:pt x="0" y="190500"/>
                  </a:cubicBezTo>
                  <a:cubicBezTo>
                    <a:pt x="0" y="85290"/>
                    <a:pt x="121843" y="0"/>
                    <a:pt x="272143" y="0"/>
                  </a:cubicBezTo>
                  <a:close/>
                </a:path>
              </a:pathLst>
            </a:custGeom>
            <a:solidFill>
              <a:srgbClr val="7ED95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982450" y="7058025"/>
            <a:ext cx="57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ED957"/>
                </a:solidFill>
                <a:latin typeface="Montserrat"/>
                <a:ea typeface="Montserrat"/>
                <a:cs typeface="Montserrat"/>
                <a:sym typeface="Montserrat"/>
              </a:rPr>
              <a:t>187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10950" y="7762875"/>
            <a:ext cx="4000500" cy="52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A0B8D0"/>
                </a:solidFill>
                <a:latin typeface="Montserrat"/>
                <a:ea typeface="Montserrat"/>
                <a:cs typeface="Montserrat"/>
                <a:sym typeface="Montserrat"/>
              </a:rPr>
              <a:t>Comment and price account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A0B8D0"/>
                </a:solidFill>
                <a:latin typeface="Montserrat"/>
                <a:ea typeface="Montserrat"/>
                <a:cs typeface="Montserrat"/>
                <a:sym typeface="Montserrat"/>
              </a:rPr>
              <a:t>for 2,318 of all complaints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33450" y="1857375"/>
            <a:ext cx="6667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A0B8D0"/>
                </a:solidFill>
                <a:latin typeface="Montserrat"/>
                <a:ea typeface="Montserrat"/>
                <a:cs typeface="Montserrat"/>
                <a:sym typeface="Montserrat"/>
              </a:rPr>
              <a:t>MARKA YOL NLP Analysis Results | 5 Brands | 3,432 Comments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66379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5961761" y="8382000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4697075" y="1238250"/>
            <a:ext cx="2562225" cy="33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7"/>
              </a:lnSpc>
              <a:spcBef>
                <a:spcPct val="0"/>
              </a:spcBef>
            </a:pPr>
            <a:r>
              <a:rPr lang="en-US" sz="2033" u="none" strike="noStrik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986817"/>
            <a:ext cx="8572500" cy="65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2"/>
              </a:lnSpc>
              <a:spcBef>
                <a:spcPct val="0"/>
              </a:spcBef>
            </a:pPr>
            <a:r>
              <a:rPr lang="en-US" sz="4422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Strategic Recommendations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1724025"/>
            <a:ext cx="571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A0B8D0"/>
                </a:solidFill>
                <a:latin typeface="Montserrat"/>
                <a:ea typeface="Montserrat"/>
                <a:cs typeface="Montserrat"/>
                <a:sym typeface="Montserrat"/>
              </a:rPr>
              <a:t>NLP-Based Brand Strategy Summary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26511" y="2438400"/>
            <a:ext cx="1905000" cy="1333500"/>
            <a:chOff x="0" y="0"/>
            <a:chExt cx="2540000" cy="177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0000" cy="1778000"/>
            </a:xfrm>
            <a:custGeom>
              <a:avLst/>
              <a:gdLst/>
              <a:ahLst/>
              <a:cxnLst/>
              <a:rect l="l" t="t" r="r" b="b"/>
              <a:pathLst>
                <a:path w="2540000" h="1778000">
                  <a:moveTo>
                    <a:pt x="177800" y="0"/>
                  </a:moveTo>
                  <a:lnTo>
                    <a:pt x="2362200" y="0"/>
                  </a:lnTo>
                  <a:cubicBezTo>
                    <a:pt x="2460396" y="0"/>
                    <a:pt x="2540000" y="79604"/>
                    <a:pt x="2540000" y="177800"/>
                  </a:cubicBezTo>
                  <a:lnTo>
                    <a:pt x="2540000" y="1600200"/>
                  </a:lnTo>
                  <a:cubicBezTo>
                    <a:pt x="2540000" y="1698396"/>
                    <a:pt x="2460396" y="1778000"/>
                    <a:pt x="236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475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1761" y="2981325"/>
            <a:ext cx="1714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A15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TRENDYOL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722011" y="2438400"/>
            <a:ext cx="3619500" cy="1333500"/>
            <a:chOff x="0" y="0"/>
            <a:chExt cx="4826000" cy="177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47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864886" y="29432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Delivery Transparency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32011" y="2438400"/>
            <a:ext cx="3619500" cy="1333500"/>
            <a:chOff x="0" y="0"/>
            <a:chExt cx="4826000" cy="1778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47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74886" y="29432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Seller Monitoring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342011" y="2438400"/>
            <a:ext cx="3619500" cy="1333500"/>
            <a:chOff x="0" y="0"/>
            <a:chExt cx="4826000" cy="177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47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484886" y="29432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Easy Returns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152011" y="2438400"/>
            <a:ext cx="3619500" cy="1333500"/>
            <a:chOff x="0" y="0"/>
            <a:chExt cx="4826000" cy="1778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47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294886" y="29432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Social Media Response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6511" y="3924300"/>
            <a:ext cx="1905000" cy="1333500"/>
            <a:chOff x="0" y="0"/>
            <a:chExt cx="2540000" cy="1778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00" cy="1778000"/>
            </a:xfrm>
            <a:custGeom>
              <a:avLst/>
              <a:gdLst/>
              <a:ahLst/>
              <a:cxnLst/>
              <a:rect l="l" t="t" r="r" b="b"/>
              <a:pathLst>
                <a:path w="2540000" h="1778000">
                  <a:moveTo>
                    <a:pt x="177800" y="0"/>
                  </a:moveTo>
                  <a:lnTo>
                    <a:pt x="2362200" y="0"/>
                  </a:lnTo>
                  <a:cubicBezTo>
                    <a:pt x="2460396" y="0"/>
                    <a:pt x="2540000" y="79604"/>
                    <a:pt x="2540000" y="177800"/>
                  </a:cubicBezTo>
                  <a:lnTo>
                    <a:pt x="2540000" y="1600200"/>
                  </a:lnTo>
                  <a:cubicBezTo>
                    <a:pt x="2540000" y="1698396"/>
                    <a:pt x="2460396" y="1778000"/>
                    <a:pt x="236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0CBFF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21761" y="4467225"/>
            <a:ext cx="1714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A15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TURKCELL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722011" y="3924300"/>
            <a:ext cx="3619500" cy="1333500"/>
            <a:chOff x="0" y="0"/>
            <a:chExt cx="4826000" cy="1778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00CB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864886" y="44291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Regional Infrastructure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532011" y="3924300"/>
            <a:ext cx="3619500" cy="1333500"/>
            <a:chOff x="0" y="0"/>
            <a:chExt cx="4826000" cy="1778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00CB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674886" y="44291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Price Transparency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342011" y="3924300"/>
            <a:ext cx="3619500" cy="1333500"/>
            <a:chOff x="0" y="0"/>
            <a:chExt cx="4826000" cy="1778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00CB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484886" y="44291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Social Media Support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4152011" y="3924300"/>
            <a:ext cx="3619500" cy="1333500"/>
            <a:chOff x="0" y="0"/>
            <a:chExt cx="4826000" cy="1778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00CB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294886" y="4286250"/>
            <a:ext cx="3333750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Positive Experience Visibility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26511" y="5410200"/>
            <a:ext cx="1905000" cy="1333500"/>
            <a:chOff x="0" y="0"/>
            <a:chExt cx="2540000" cy="1778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40000" cy="1778000"/>
            </a:xfrm>
            <a:custGeom>
              <a:avLst/>
              <a:gdLst/>
              <a:ahLst/>
              <a:cxnLst/>
              <a:rect l="l" t="t" r="r" b="b"/>
              <a:pathLst>
                <a:path w="2540000" h="1778000">
                  <a:moveTo>
                    <a:pt x="177800" y="0"/>
                  </a:moveTo>
                  <a:lnTo>
                    <a:pt x="2362200" y="0"/>
                  </a:lnTo>
                  <a:cubicBezTo>
                    <a:pt x="2460396" y="0"/>
                    <a:pt x="2540000" y="79604"/>
                    <a:pt x="2540000" y="177800"/>
                  </a:cubicBezTo>
                  <a:lnTo>
                    <a:pt x="2540000" y="1600200"/>
                  </a:lnTo>
                  <a:cubicBezTo>
                    <a:pt x="2540000" y="1698396"/>
                    <a:pt x="2460396" y="1778000"/>
                    <a:pt x="236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6B81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21761" y="5953125"/>
            <a:ext cx="1714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A15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HEPSIBURADA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722011" y="5410200"/>
            <a:ext cx="3619500" cy="1333500"/>
            <a:chOff x="0" y="0"/>
            <a:chExt cx="4826000" cy="1778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6B81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864886" y="59150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Seller Performance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532011" y="5410200"/>
            <a:ext cx="3619500" cy="1333500"/>
            <a:chOff x="0" y="0"/>
            <a:chExt cx="4826000" cy="1778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6B81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674886" y="59150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Product Accuracy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342011" y="5410200"/>
            <a:ext cx="3619500" cy="1333500"/>
            <a:chOff x="0" y="0"/>
            <a:chExt cx="4826000" cy="1778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6B81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0484886" y="59150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Campaign Communication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4152011" y="5410200"/>
            <a:ext cx="3619500" cy="1333500"/>
            <a:chOff x="0" y="0"/>
            <a:chExt cx="4826000" cy="1778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F6B81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294886" y="59150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Customer Service Quality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26511" y="6896100"/>
            <a:ext cx="1905000" cy="1333500"/>
            <a:chOff x="0" y="0"/>
            <a:chExt cx="2540000" cy="1778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540000" cy="1778000"/>
            </a:xfrm>
            <a:custGeom>
              <a:avLst/>
              <a:gdLst/>
              <a:ahLst/>
              <a:cxnLst/>
              <a:rect l="l" t="t" r="r" b="b"/>
              <a:pathLst>
                <a:path w="2540000" h="1778000">
                  <a:moveTo>
                    <a:pt x="177800" y="0"/>
                  </a:moveTo>
                  <a:lnTo>
                    <a:pt x="2362200" y="0"/>
                  </a:lnTo>
                  <a:cubicBezTo>
                    <a:pt x="2460396" y="0"/>
                    <a:pt x="2540000" y="79604"/>
                    <a:pt x="2540000" y="177800"/>
                  </a:cubicBezTo>
                  <a:lnTo>
                    <a:pt x="2540000" y="1600200"/>
                  </a:lnTo>
                  <a:cubicBezTo>
                    <a:pt x="2540000" y="1698396"/>
                    <a:pt x="2460396" y="1778000"/>
                    <a:pt x="236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7ED957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721761" y="7439025"/>
            <a:ext cx="1714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A15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GARANTI BBVA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2722011" y="6896100"/>
            <a:ext cx="3619500" cy="1333500"/>
            <a:chOff x="0" y="0"/>
            <a:chExt cx="4826000" cy="17780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7ED9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2864886" y="74009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Social Media FAQ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6532011" y="6896100"/>
            <a:ext cx="3619500" cy="1333500"/>
            <a:chOff x="0" y="0"/>
            <a:chExt cx="4826000" cy="17780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7ED9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6674886" y="74009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Digital Banking Support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0342011" y="6896100"/>
            <a:ext cx="3619500" cy="1333500"/>
            <a:chOff x="0" y="0"/>
            <a:chExt cx="4826000" cy="17780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7ED9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0484886" y="74009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Security Alerts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4152011" y="6896100"/>
            <a:ext cx="3619500" cy="1333500"/>
            <a:chOff x="0" y="0"/>
            <a:chExt cx="4826000" cy="17780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7ED957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4294886" y="74009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Chatbot &amp; Auto-Response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626511" y="8382000"/>
            <a:ext cx="1905000" cy="1333500"/>
            <a:chOff x="0" y="0"/>
            <a:chExt cx="2540000" cy="17780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540000" cy="1778000"/>
            </a:xfrm>
            <a:custGeom>
              <a:avLst/>
              <a:gdLst/>
              <a:ahLst/>
              <a:cxnLst/>
              <a:rect l="l" t="t" r="r" b="b"/>
              <a:pathLst>
                <a:path w="2540000" h="1778000">
                  <a:moveTo>
                    <a:pt x="177800" y="0"/>
                  </a:moveTo>
                  <a:lnTo>
                    <a:pt x="2362200" y="0"/>
                  </a:lnTo>
                  <a:cubicBezTo>
                    <a:pt x="2460396" y="0"/>
                    <a:pt x="2540000" y="79604"/>
                    <a:pt x="2540000" y="177800"/>
                  </a:cubicBezTo>
                  <a:lnTo>
                    <a:pt x="2540000" y="1600200"/>
                  </a:lnTo>
                  <a:cubicBezTo>
                    <a:pt x="2540000" y="1698396"/>
                    <a:pt x="2460396" y="1778000"/>
                    <a:pt x="236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8D33E">
                <a:alpha val="89804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21761" y="8924925"/>
            <a:ext cx="1714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A15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THY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2722011" y="8382000"/>
            <a:ext cx="3619500" cy="1333500"/>
            <a:chOff x="0" y="0"/>
            <a:chExt cx="4826000" cy="17780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8D33E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2864886" y="88868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Proactive Delay Comms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6532011" y="8382000"/>
            <a:ext cx="3619500" cy="1333500"/>
            <a:chOff x="0" y="0"/>
            <a:chExt cx="4826000" cy="17780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8D33E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6674886" y="88868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Baggage Tracking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0342011" y="8382000"/>
            <a:ext cx="3619500" cy="1333500"/>
            <a:chOff x="0" y="0"/>
            <a:chExt cx="4826000" cy="17780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8D33E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0484886" y="88868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Crisis Communication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4152011" y="8382000"/>
            <a:ext cx="3619500" cy="1333500"/>
            <a:chOff x="0" y="0"/>
            <a:chExt cx="4826000" cy="17780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826000" cy="1778000"/>
            </a:xfrm>
            <a:custGeom>
              <a:avLst/>
              <a:gdLst/>
              <a:ahLst/>
              <a:cxnLst/>
              <a:rect l="l" t="t" r="r" b="b"/>
              <a:pathLst>
                <a:path w="4826000" h="1778000">
                  <a:moveTo>
                    <a:pt x="177800" y="0"/>
                  </a:moveTo>
                  <a:lnTo>
                    <a:pt x="4648200" y="0"/>
                  </a:lnTo>
                  <a:cubicBezTo>
                    <a:pt x="4746396" y="0"/>
                    <a:pt x="4826000" y="79604"/>
                    <a:pt x="4826000" y="177800"/>
                  </a:cubicBezTo>
                  <a:lnTo>
                    <a:pt x="4826000" y="1600200"/>
                  </a:lnTo>
                  <a:cubicBezTo>
                    <a:pt x="4826000" y="1698396"/>
                    <a:pt x="4746396" y="1778000"/>
                    <a:pt x="464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A1535">
                <a:alpha val="80000"/>
              </a:srgbClr>
            </a:solidFill>
            <a:ln w="19050" cap="sq">
              <a:solidFill>
                <a:srgbClr val="F8D33E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4294886" y="8886825"/>
            <a:ext cx="33337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</a:t>
            </a:r>
            <a:r>
              <a:rPr lang="en-US" sz="17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CS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781" y="1028700"/>
            <a:ext cx="15524438" cy="8344385"/>
          </a:xfrm>
          <a:custGeom>
            <a:avLst/>
            <a:gdLst/>
            <a:ahLst/>
            <a:cxnLst/>
            <a:rect l="l" t="t" r="r" b="b"/>
            <a:pathLst>
              <a:path w="15524438" h="8344385">
                <a:moveTo>
                  <a:pt x="0" y="0"/>
                </a:moveTo>
                <a:lnTo>
                  <a:pt x="15524438" y="0"/>
                </a:lnTo>
                <a:lnTo>
                  <a:pt x="15524438" y="8344385"/>
                </a:lnTo>
                <a:lnTo>
                  <a:pt x="0" y="8344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275056" y="295532"/>
            <a:ext cx="4381500" cy="40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PLATFORM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737307" y="1926479"/>
            <a:ext cx="6776271" cy="6352754"/>
          </a:xfrm>
          <a:custGeom>
            <a:avLst/>
            <a:gdLst/>
            <a:ahLst/>
            <a:cxnLst/>
            <a:rect l="l" t="t" r="r" b="b"/>
            <a:pathLst>
              <a:path w="6776271" h="6352754">
                <a:moveTo>
                  <a:pt x="0" y="0"/>
                </a:moveTo>
                <a:lnTo>
                  <a:pt x="6776272" y="0"/>
                </a:lnTo>
                <a:lnTo>
                  <a:pt x="6776272" y="6352755"/>
                </a:lnTo>
                <a:lnTo>
                  <a:pt x="0" y="6352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7" name="Group 7"/>
          <p:cNvGrpSpPr/>
          <p:nvPr/>
        </p:nvGrpSpPr>
        <p:grpSpPr>
          <a:xfrm>
            <a:off x="9483698" y="6991579"/>
            <a:ext cx="8082628" cy="2219769"/>
            <a:chOff x="0" y="0"/>
            <a:chExt cx="9525000" cy="26158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25000" cy="2615895"/>
            </a:xfrm>
            <a:custGeom>
              <a:avLst/>
              <a:gdLst/>
              <a:ahLst/>
              <a:cxnLst/>
              <a:rect l="l" t="t" r="r" b="b"/>
              <a:pathLst>
                <a:path w="9525000" h="2615895">
                  <a:moveTo>
                    <a:pt x="228600" y="0"/>
                  </a:moveTo>
                  <a:lnTo>
                    <a:pt x="9296400" y="0"/>
                  </a:lnTo>
                  <a:cubicBezTo>
                    <a:pt x="9422652" y="0"/>
                    <a:pt x="9525000" y="117118"/>
                    <a:pt x="9525000" y="261589"/>
                  </a:cubicBezTo>
                  <a:lnTo>
                    <a:pt x="9525000" y="2354305"/>
                  </a:lnTo>
                  <a:cubicBezTo>
                    <a:pt x="9525000" y="2498777"/>
                    <a:pt x="9422652" y="2615895"/>
                    <a:pt x="9296400" y="2615895"/>
                  </a:cubicBezTo>
                  <a:lnTo>
                    <a:pt x="228600" y="2615895"/>
                  </a:lnTo>
                  <a:cubicBezTo>
                    <a:pt x="102348" y="2615895"/>
                    <a:pt x="0" y="2498777"/>
                    <a:pt x="0" y="2354305"/>
                  </a:cubicBezTo>
                  <a:lnTo>
                    <a:pt x="0" y="261589"/>
                  </a:lnTo>
                  <a:cubicBezTo>
                    <a:pt x="0" y="11711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50D1A"/>
            </a:solidFill>
            <a:ln w="19050" cap="sq">
              <a:solidFill>
                <a:srgbClr val="00CBFF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9" name="Freeform 9"/>
          <p:cNvSpPr/>
          <p:nvPr/>
        </p:nvSpPr>
        <p:spPr>
          <a:xfrm>
            <a:off x="9782856" y="7181123"/>
            <a:ext cx="1677525" cy="1840682"/>
          </a:xfrm>
          <a:custGeom>
            <a:avLst/>
            <a:gdLst/>
            <a:ahLst/>
            <a:cxnLst/>
            <a:rect l="l" t="t" r="r" b="b"/>
            <a:pathLst>
              <a:path w="1677525" h="1840682">
                <a:moveTo>
                  <a:pt x="0" y="0"/>
                </a:moveTo>
                <a:lnTo>
                  <a:pt x="1677525" y="0"/>
                </a:lnTo>
                <a:lnTo>
                  <a:pt x="1677525" y="1840682"/>
                </a:lnTo>
                <a:lnTo>
                  <a:pt x="0" y="1840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63" r="-4863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14700197" y="1235302"/>
            <a:ext cx="2559103" cy="32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91"/>
              </a:lnSpc>
              <a:spcBef>
                <a:spcPct val="0"/>
              </a:spcBef>
            </a:pPr>
            <a:r>
              <a:rPr lang="en-US" sz="1922" spc="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12248" y="2245995"/>
            <a:ext cx="666750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u="none" strike="noStrike" spc="-7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Live Platform Demonstration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83698" y="4384095"/>
            <a:ext cx="6496050" cy="2169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68"/>
              </a:lnSpc>
              <a:spcBef>
                <a:spcPct val="0"/>
              </a:spcBef>
            </a:pPr>
            <a:r>
              <a:rPr lang="en-US" sz="2312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Experience MARKA YOL in action. Explore real-time NLP-powered analytics, sentiment tracking, and strategic insights. See how our platform transforms social media data into actionable brand intelligence.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06250" y="7406287"/>
            <a:ext cx="47625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2"/>
              </a:lnSpc>
              <a:spcBef>
                <a:spcPct val="0"/>
              </a:spcBef>
            </a:pPr>
            <a:r>
              <a:rPr lang="en-US" sz="256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https://markayol.online/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06250" y="7956692"/>
            <a:ext cx="4762500" cy="3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7"/>
              </a:lnSpc>
              <a:spcBef>
                <a:spcPct val="0"/>
              </a:spcBef>
            </a:pPr>
            <a:r>
              <a:rPr lang="en-US" sz="1926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Scan the QR code or visit our platform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0" y="8429625"/>
            <a:ext cx="4762500" cy="26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7"/>
              </a:lnSpc>
              <a:spcBef>
                <a:spcPct val="0"/>
              </a:spcBef>
            </a:pPr>
            <a:r>
              <a:rPr lang="en-US" sz="1605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iletisimmarkayol@gmail.com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1610583" y="-5358333"/>
            <a:ext cx="4154274" cy="20389074"/>
          </a:xfrm>
          <a:custGeom>
            <a:avLst/>
            <a:gdLst/>
            <a:ahLst/>
            <a:cxnLst/>
            <a:rect l="l" t="t" r="r" b="b"/>
            <a:pathLst>
              <a:path w="4154274" h="20389074">
                <a:moveTo>
                  <a:pt x="0" y="0"/>
                </a:moveTo>
                <a:lnTo>
                  <a:pt x="4154274" y="0"/>
                </a:lnTo>
                <a:lnTo>
                  <a:pt x="4154274" y="20389074"/>
                </a:lnTo>
                <a:lnTo>
                  <a:pt x="0" y="20389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4700197" y="1235302"/>
            <a:ext cx="2559103" cy="32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7"/>
              </a:lnSpc>
              <a:spcBef>
                <a:spcPct val="0"/>
              </a:spcBef>
            </a:pPr>
            <a:r>
              <a:rPr lang="en-US" sz="1912" spc="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04521"/>
            <a:ext cx="9586218" cy="229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</a:pPr>
            <a:r>
              <a:rPr lang="en-US" sz="7994" b="1" spc="-7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Future Improvements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50" y="4572000"/>
            <a:ext cx="8555531" cy="1428750"/>
            <a:chOff x="0" y="0"/>
            <a:chExt cx="2253308" cy="3762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3309" cy="376296"/>
            </a:xfrm>
            <a:custGeom>
              <a:avLst/>
              <a:gdLst/>
              <a:ahLst/>
              <a:cxnLst/>
              <a:rect l="l" t="t" r="r" b="b"/>
              <a:pathLst>
                <a:path w="2253309" h="376296">
                  <a:moveTo>
                    <a:pt x="46150" y="0"/>
                  </a:moveTo>
                  <a:lnTo>
                    <a:pt x="2207158" y="0"/>
                  </a:lnTo>
                  <a:cubicBezTo>
                    <a:pt x="2219398" y="0"/>
                    <a:pt x="2231137" y="4862"/>
                    <a:pt x="2239792" y="13517"/>
                  </a:cubicBezTo>
                  <a:cubicBezTo>
                    <a:pt x="2248446" y="22172"/>
                    <a:pt x="2253309" y="33910"/>
                    <a:pt x="2253309" y="46150"/>
                  </a:cubicBezTo>
                  <a:lnTo>
                    <a:pt x="2253309" y="330146"/>
                  </a:lnTo>
                  <a:cubicBezTo>
                    <a:pt x="2253309" y="342386"/>
                    <a:pt x="2248446" y="354124"/>
                    <a:pt x="2239792" y="362779"/>
                  </a:cubicBezTo>
                  <a:cubicBezTo>
                    <a:pt x="2231137" y="371434"/>
                    <a:pt x="2219398" y="376296"/>
                    <a:pt x="2207158" y="376296"/>
                  </a:cubicBezTo>
                  <a:lnTo>
                    <a:pt x="46150" y="376296"/>
                  </a:lnTo>
                  <a:cubicBezTo>
                    <a:pt x="33910" y="376296"/>
                    <a:pt x="22172" y="371434"/>
                    <a:pt x="13517" y="362779"/>
                  </a:cubicBezTo>
                  <a:cubicBezTo>
                    <a:pt x="4862" y="354124"/>
                    <a:pt x="0" y="342386"/>
                    <a:pt x="0" y="330146"/>
                  </a:cubicBezTo>
                  <a:lnTo>
                    <a:pt x="0" y="46150"/>
                  </a:lnTo>
                  <a:cubicBezTo>
                    <a:pt x="0" y="33910"/>
                    <a:pt x="4862" y="22172"/>
                    <a:pt x="13517" y="13517"/>
                  </a:cubicBezTo>
                  <a:cubicBezTo>
                    <a:pt x="22172" y="4862"/>
                    <a:pt x="33910" y="0"/>
                    <a:pt x="46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rnd">
              <a:solidFill>
                <a:srgbClr val="00CBFF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53308" cy="414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6825" y="4943475"/>
            <a:ext cx="679421" cy="67942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F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3450" y="6286500"/>
            <a:ext cx="8555531" cy="1428750"/>
            <a:chOff x="0" y="0"/>
            <a:chExt cx="2253308" cy="3762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53309" cy="376296"/>
            </a:xfrm>
            <a:custGeom>
              <a:avLst/>
              <a:gdLst/>
              <a:ahLst/>
              <a:cxnLst/>
              <a:rect l="l" t="t" r="r" b="b"/>
              <a:pathLst>
                <a:path w="2253309" h="376296">
                  <a:moveTo>
                    <a:pt x="46150" y="0"/>
                  </a:moveTo>
                  <a:lnTo>
                    <a:pt x="2207158" y="0"/>
                  </a:lnTo>
                  <a:cubicBezTo>
                    <a:pt x="2219398" y="0"/>
                    <a:pt x="2231137" y="4862"/>
                    <a:pt x="2239792" y="13517"/>
                  </a:cubicBezTo>
                  <a:cubicBezTo>
                    <a:pt x="2248446" y="22172"/>
                    <a:pt x="2253309" y="33910"/>
                    <a:pt x="2253309" y="46150"/>
                  </a:cubicBezTo>
                  <a:lnTo>
                    <a:pt x="2253309" y="330146"/>
                  </a:lnTo>
                  <a:cubicBezTo>
                    <a:pt x="2253309" y="342386"/>
                    <a:pt x="2248446" y="354124"/>
                    <a:pt x="2239792" y="362779"/>
                  </a:cubicBezTo>
                  <a:cubicBezTo>
                    <a:pt x="2231137" y="371434"/>
                    <a:pt x="2219398" y="376296"/>
                    <a:pt x="2207158" y="376296"/>
                  </a:cubicBezTo>
                  <a:lnTo>
                    <a:pt x="46150" y="376296"/>
                  </a:lnTo>
                  <a:cubicBezTo>
                    <a:pt x="33910" y="376296"/>
                    <a:pt x="22172" y="371434"/>
                    <a:pt x="13517" y="362779"/>
                  </a:cubicBezTo>
                  <a:cubicBezTo>
                    <a:pt x="4862" y="354124"/>
                    <a:pt x="0" y="342386"/>
                    <a:pt x="0" y="330146"/>
                  </a:cubicBezTo>
                  <a:lnTo>
                    <a:pt x="0" y="46150"/>
                  </a:lnTo>
                  <a:cubicBezTo>
                    <a:pt x="0" y="33910"/>
                    <a:pt x="4862" y="22172"/>
                    <a:pt x="13517" y="13517"/>
                  </a:cubicBezTo>
                  <a:cubicBezTo>
                    <a:pt x="22172" y="4862"/>
                    <a:pt x="33910" y="0"/>
                    <a:pt x="4615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rnd">
              <a:solidFill>
                <a:srgbClr val="F8D33E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53308" cy="414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6825" y="6657975"/>
            <a:ext cx="679421" cy="67942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D33E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33500" y="5143500"/>
            <a:ext cx="555454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4450" y="6858000"/>
            <a:ext cx="555454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05050" y="4800600"/>
            <a:ext cx="68484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Additional Data Sources &amp; Enhanced NLP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Expanding to TikTok and YouTube with deep learning-powered NLP for improved accuracy.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05050" y="6515100"/>
            <a:ext cx="68484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Predictive Analytics &amp; Smart Recommendations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Trend forecasting capabilities with expanded customization options for strategic insights.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3450" y="8001000"/>
            <a:ext cx="8562975" cy="1428750"/>
            <a:chOff x="0" y="0"/>
            <a:chExt cx="11417300" cy="1905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17300" cy="1905000"/>
            </a:xfrm>
            <a:custGeom>
              <a:avLst/>
              <a:gdLst/>
              <a:ahLst/>
              <a:cxnLst/>
              <a:rect l="l" t="t" r="r" b="b"/>
              <a:pathLst>
                <a:path w="11417300" h="1905000">
                  <a:moveTo>
                    <a:pt x="212090" y="0"/>
                  </a:moveTo>
                  <a:lnTo>
                    <a:pt x="11205210" y="0"/>
                  </a:lnTo>
                  <a:cubicBezTo>
                    <a:pt x="11261460" y="0"/>
                    <a:pt x="11315405" y="20070"/>
                    <a:pt x="11355181" y="55796"/>
                  </a:cubicBezTo>
                  <a:cubicBezTo>
                    <a:pt x="11394955" y="91522"/>
                    <a:pt x="11417300" y="139976"/>
                    <a:pt x="11417300" y="190500"/>
                  </a:cubicBezTo>
                  <a:lnTo>
                    <a:pt x="11417300" y="1714500"/>
                  </a:lnTo>
                  <a:cubicBezTo>
                    <a:pt x="11417300" y="1765024"/>
                    <a:pt x="11394955" y="1813478"/>
                    <a:pt x="11355181" y="1849204"/>
                  </a:cubicBezTo>
                  <a:cubicBezTo>
                    <a:pt x="11315405" y="1884930"/>
                    <a:pt x="11261460" y="1905000"/>
                    <a:pt x="11205210" y="1905000"/>
                  </a:cubicBezTo>
                  <a:lnTo>
                    <a:pt x="212090" y="1905000"/>
                  </a:lnTo>
                  <a:cubicBezTo>
                    <a:pt x="94956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94956" y="0"/>
                    <a:pt x="212090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28575" cap="sq">
              <a:solidFill>
                <a:srgbClr val="7ED957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66825" y="8372475"/>
            <a:ext cx="685800" cy="685800"/>
            <a:chOff x="0" y="0"/>
            <a:chExt cx="91440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33500" y="8572500"/>
            <a:ext cx="561975" cy="283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7"/>
              </a:lnSpc>
              <a:spcBef>
                <a:spcPct val="0"/>
              </a:spcBef>
            </a:pPr>
            <a:r>
              <a:rPr lang="en-US" sz="2043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05050" y="8124825"/>
            <a:ext cx="68484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Alert System &amp; API Integration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Instant notifications for brand crises with third-party tool integration for seamless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334750" y="5524500"/>
            <a:ext cx="3238500" cy="1714500"/>
            <a:chOff x="0" y="0"/>
            <a:chExt cx="43180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18000" cy="2286000"/>
            </a:xfrm>
            <a:custGeom>
              <a:avLst/>
              <a:gdLst/>
              <a:ahLst/>
              <a:cxnLst/>
              <a:rect l="l" t="t" r="r" b="b"/>
              <a:pathLst>
                <a:path w="4318000" h="2286000">
                  <a:moveTo>
                    <a:pt x="228600" y="0"/>
                  </a:moveTo>
                  <a:lnTo>
                    <a:pt x="4089400" y="0"/>
                  </a:lnTo>
                  <a:cubicBezTo>
                    <a:pt x="4215652" y="0"/>
                    <a:pt x="4318000" y="102348"/>
                    <a:pt x="4318000" y="228600"/>
                  </a:cubicBezTo>
                  <a:lnTo>
                    <a:pt x="4318000" y="2057400"/>
                  </a:lnTo>
                  <a:cubicBezTo>
                    <a:pt x="4318000" y="2183652"/>
                    <a:pt x="4215652" y="2286000"/>
                    <a:pt x="4089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A1A3A"/>
            </a:solidFill>
            <a:ln w="28575" cap="sq">
              <a:solidFill>
                <a:srgbClr val="00FF66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24750" y="5524500"/>
            <a:ext cx="3238500" cy="1714500"/>
            <a:chOff x="0" y="0"/>
            <a:chExt cx="43180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18000" cy="2286000"/>
            </a:xfrm>
            <a:custGeom>
              <a:avLst/>
              <a:gdLst/>
              <a:ahLst/>
              <a:cxnLst/>
              <a:rect l="l" t="t" r="r" b="b"/>
              <a:pathLst>
                <a:path w="4318000" h="2286000">
                  <a:moveTo>
                    <a:pt x="228600" y="0"/>
                  </a:moveTo>
                  <a:lnTo>
                    <a:pt x="4089400" y="0"/>
                  </a:lnTo>
                  <a:cubicBezTo>
                    <a:pt x="4215652" y="0"/>
                    <a:pt x="4318000" y="102348"/>
                    <a:pt x="4318000" y="228600"/>
                  </a:cubicBezTo>
                  <a:lnTo>
                    <a:pt x="4318000" y="2057400"/>
                  </a:lnTo>
                  <a:cubicBezTo>
                    <a:pt x="4318000" y="2183652"/>
                    <a:pt x="4215652" y="2286000"/>
                    <a:pt x="4089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A1A3A"/>
            </a:solidFill>
            <a:ln w="28575" cap="sq">
              <a:solidFill>
                <a:srgbClr val="FFFF00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15250" y="5705475"/>
            <a:ext cx="28575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Monitoring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5250" y="5848350"/>
            <a:ext cx="2857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00FF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5250" y="6334125"/>
            <a:ext cx="2857500" cy="52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Actionable strategies that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drive measurable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15250" y="6334125"/>
            <a:ext cx="2857500" cy="52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Live sentiment tracking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across multiple platforms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>
            <a:off x="15979748" y="8279234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5" y="0"/>
                </a:lnTo>
                <a:lnTo>
                  <a:pt x="4091625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3" name="Freeform 13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4" name="TextBox 14"/>
          <p:cNvSpPr txBox="1"/>
          <p:nvPr/>
        </p:nvSpPr>
        <p:spPr>
          <a:xfrm>
            <a:off x="14687550" y="1192212"/>
            <a:ext cx="25622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9000" y="2438400"/>
            <a:ext cx="11430000" cy="10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97"/>
              </a:lnSpc>
              <a:spcBef>
                <a:spcPct val="0"/>
              </a:spcBef>
            </a:pPr>
            <a:r>
              <a:rPr lang="en-US" sz="7497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 &amp; Questions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57750" y="3619500"/>
            <a:ext cx="8572500" cy="106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MARKA YOL transforms social media data into actionable brand strategies</a:t>
            </a:r>
          </a:p>
          <a:p>
            <a:pPr marL="0" lvl="0" indent="0" algn="ctr">
              <a:lnSpc>
                <a:spcPts val="288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through NLP-powered sentiment analysis and intelligent recommendations.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714750" y="5524500"/>
            <a:ext cx="3238500" cy="1714500"/>
            <a:chOff x="0" y="0"/>
            <a:chExt cx="4318000" cy="228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18000" cy="2286000"/>
            </a:xfrm>
            <a:custGeom>
              <a:avLst/>
              <a:gdLst/>
              <a:ahLst/>
              <a:cxnLst/>
              <a:rect l="l" t="t" r="r" b="b"/>
              <a:pathLst>
                <a:path w="4318000" h="2286000">
                  <a:moveTo>
                    <a:pt x="228600" y="0"/>
                  </a:moveTo>
                  <a:lnTo>
                    <a:pt x="4089400" y="0"/>
                  </a:lnTo>
                  <a:cubicBezTo>
                    <a:pt x="4215652" y="0"/>
                    <a:pt x="4318000" y="102348"/>
                    <a:pt x="4318000" y="228600"/>
                  </a:cubicBezTo>
                  <a:lnTo>
                    <a:pt x="4318000" y="2057400"/>
                  </a:lnTo>
                  <a:cubicBezTo>
                    <a:pt x="4318000" y="2183652"/>
                    <a:pt x="4215652" y="2286000"/>
                    <a:pt x="4089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A1A3A"/>
            </a:solidFill>
            <a:ln w="28575" cap="sq">
              <a:solidFill>
                <a:srgbClr val="00CBFF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905250" y="5848350"/>
            <a:ext cx="2857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00C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Data-Driven Insights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05250" y="6334125"/>
            <a:ext cx="2857500" cy="52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NLP-powered analysis of</a:t>
            </a:r>
          </a:p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100K+ social media comments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86500" y="7934362"/>
            <a:ext cx="5715000" cy="58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r>
              <a:rPr lang="en-US" sz="4419" u="none" strike="noStrike">
                <a:solidFill>
                  <a:srgbClr val="FFFF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Questions?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10250" y="8801100"/>
            <a:ext cx="66675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rPr>
              <a:t>markayol.online  |  iletisimmarkayol@gmail.com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700197" y="1028700"/>
            <a:ext cx="2559103" cy="790996"/>
          </a:xfrm>
          <a:custGeom>
            <a:avLst/>
            <a:gdLst/>
            <a:ahLst/>
            <a:cxnLst/>
            <a:rect l="l" t="t" r="r" b="b"/>
            <a:pathLst>
              <a:path w="2559103" h="790996">
                <a:moveTo>
                  <a:pt x="0" y="0"/>
                </a:moveTo>
                <a:lnTo>
                  <a:pt x="2559103" y="0"/>
                </a:lnTo>
                <a:lnTo>
                  <a:pt x="2559103" y="790996"/>
                </a:lnTo>
                <a:lnTo>
                  <a:pt x="0" y="79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-2045812" y="8077686"/>
            <a:ext cx="4091625" cy="4091625"/>
          </a:xfrm>
          <a:custGeom>
            <a:avLst/>
            <a:gdLst/>
            <a:ahLst/>
            <a:cxnLst/>
            <a:rect l="l" t="t" r="r" b="b"/>
            <a:pathLst>
              <a:path w="4091625" h="4091625">
                <a:moveTo>
                  <a:pt x="0" y="0"/>
                </a:moveTo>
                <a:lnTo>
                  <a:pt x="4091624" y="0"/>
                </a:lnTo>
                <a:lnTo>
                  <a:pt x="4091624" y="4091625"/>
                </a:lnTo>
                <a:lnTo>
                  <a:pt x="0" y="409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1001162" y="0"/>
            <a:ext cx="5419997" cy="975600"/>
          </a:xfrm>
          <a:custGeom>
            <a:avLst/>
            <a:gdLst/>
            <a:ahLst/>
            <a:cxnLst/>
            <a:rect l="l" t="t" r="r" b="b"/>
            <a:pathLst>
              <a:path w="5419997" h="975600">
                <a:moveTo>
                  <a:pt x="0" y="0"/>
                </a:moveTo>
                <a:lnTo>
                  <a:pt x="5419998" y="0"/>
                </a:lnTo>
                <a:lnTo>
                  <a:pt x="5419998" y="975600"/>
                </a:lnTo>
                <a:lnTo>
                  <a:pt x="0" y="975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5630633" y="771846"/>
            <a:ext cx="7026734" cy="2171899"/>
          </a:xfrm>
          <a:custGeom>
            <a:avLst/>
            <a:gdLst/>
            <a:ahLst/>
            <a:cxnLst/>
            <a:rect l="l" t="t" r="r" b="b"/>
            <a:pathLst>
              <a:path w="7026734" h="2171899">
                <a:moveTo>
                  <a:pt x="0" y="0"/>
                </a:moveTo>
                <a:lnTo>
                  <a:pt x="7026734" y="0"/>
                </a:lnTo>
                <a:lnTo>
                  <a:pt x="7026734" y="2171899"/>
                </a:lnTo>
                <a:lnTo>
                  <a:pt x="0" y="217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 flipH="1">
            <a:off x="15979748" y="8713922"/>
            <a:ext cx="2576939" cy="544378"/>
          </a:xfrm>
          <a:custGeom>
            <a:avLst/>
            <a:gdLst/>
            <a:ahLst/>
            <a:cxnLst/>
            <a:rect l="l" t="t" r="r" b="b"/>
            <a:pathLst>
              <a:path w="2576939" h="544378">
                <a:moveTo>
                  <a:pt x="2576940" y="0"/>
                </a:moveTo>
                <a:lnTo>
                  <a:pt x="0" y="0"/>
                </a:lnTo>
                <a:lnTo>
                  <a:pt x="0" y="544378"/>
                </a:lnTo>
                <a:lnTo>
                  <a:pt x="2576940" y="544378"/>
                </a:lnTo>
                <a:lnTo>
                  <a:pt x="25769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6495431" y="3190626"/>
            <a:ext cx="5297139" cy="3528632"/>
          </a:xfrm>
          <a:custGeom>
            <a:avLst/>
            <a:gdLst/>
            <a:ahLst/>
            <a:cxnLst/>
            <a:rect l="l" t="t" r="r" b="b"/>
            <a:pathLst>
              <a:path w="5297139" h="3528632">
                <a:moveTo>
                  <a:pt x="0" y="0"/>
                </a:moveTo>
                <a:lnTo>
                  <a:pt x="5297138" y="0"/>
                </a:lnTo>
                <a:lnTo>
                  <a:pt x="5297138" y="3528632"/>
                </a:lnTo>
                <a:lnTo>
                  <a:pt x="0" y="35286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0" y="7364432"/>
            <a:ext cx="2922568" cy="2922568"/>
          </a:xfrm>
          <a:custGeom>
            <a:avLst/>
            <a:gdLst/>
            <a:ahLst/>
            <a:cxnLst/>
            <a:rect l="l" t="t" r="r" b="b"/>
            <a:pathLst>
              <a:path w="2922568" h="2922568">
                <a:moveTo>
                  <a:pt x="0" y="0"/>
                </a:moveTo>
                <a:lnTo>
                  <a:pt x="2922568" y="0"/>
                </a:lnTo>
                <a:lnTo>
                  <a:pt x="2922568" y="2922568"/>
                </a:lnTo>
                <a:lnTo>
                  <a:pt x="0" y="29225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14700197" y="1244827"/>
            <a:ext cx="2559103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 spc="10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30633" y="1320211"/>
            <a:ext cx="7026734" cy="124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3"/>
              </a:lnSpc>
            </a:pPr>
            <a:r>
              <a:rPr lang="en-US" sz="8493" b="1" spc="-8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404" y="6485520"/>
            <a:ext cx="3552944" cy="40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  <a:spcBef>
                <a:spcPct val="0"/>
              </a:spcBef>
            </a:pPr>
            <a:r>
              <a:rPr lang="en-US" sz="223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https://markayol.online/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Custom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Helvetica World Bold</vt:lpstr>
      <vt:lpstr>Helvetica World</vt:lpstr>
      <vt:lpstr>Arial</vt:lpstr>
      <vt:lpstr>Canva Sans</vt:lpstr>
      <vt:lpstr>Calibri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MarkaYol</dc:title>
  <cp:lastModifiedBy>Elif Necla Bektaş</cp:lastModifiedBy>
  <cp:revision>2</cp:revision>
  <dcterms:created xsi:type="dcterms:W3CDTF">2006-08-16T00:00:00Z</dcterms:created>
  <dcterms:modified xsi:type="dcterms:W3CDTF">2026-06-03T00:23:28Z</dcterms:modified>
  <dc:identifier>DAHLdExuVCQ</dc:identifier>
</cp:coreProperties>
</file>